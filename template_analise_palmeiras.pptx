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60" r:id="rId5"/>
    <p:sldId id="285" r:id="rId6"/>
    <p:sldId id="284" r:id="rId7"/>
    <p:sldId id="283" r:id="rId8"/>
    <p:sldId id="261" r:id="rId9"/>
    <p:sldId id="286" r:id="rId10"/>
    <p:sldId id="287" r:id="rId11"/>
    <p:sldId id="288" r:id="rId12"/>
    <p:sldId id="289" r:id="rId13"/>
    <p:sldId id="290" r:id="rId14"/>
    <p:sldId id="267" r:id="rId15"/>
    <p:sldId id="291" r:id="rId16"/>
    <p:sldId id="292" r:id="rId17"/>
    <p:sldId id="293" r:id="rId18"/>
    <p:sldId id="294" r:id="rId19"/>
    <p:sldId id="296" r:id="rId20"/>
    <p:sldId id="295" r:id="rId21"/>
    <p:sldId id="297" r:id="rId22"/>
    <p:sldId id="275" r:id="rId23"/>
    <p:sldId id="274" r:id="rId24"/>
    <p:sldId id="276" r:id="rId25"/>
    <p:sldId id="277" r:id="rId26"/>
    <p:sldId id="278" r:id="rId27"/>
    <p:sldId id="279" r:id="rId28"/>
    <p:sldId id="280" r:id="rId29"/>
    <p:sldId id="281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9767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7C4EB-A959-57C0-618D-CDFB01927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26BF5C-C6D8-14E9-4483-DBBA5A410B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0F471A-2CDE-2FD2-BF20-9CB7E7BA7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A5648-4786-E760-77EE-EF049B14D3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76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6DDBB-0BED-10E8-1069-8E639B3F8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23CEFD-21C7-083D-D770-DBE8B24983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4F18E8-A0FE-1EE6-B77A-32080A556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88F41-43CC-6D58-FA14-A7C3BA7172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412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FF7A9-776E-9F4D-2B78-5E9EE93FF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AB67DA-8832-C8C4-BE3B-11F979FA9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52237B-140E-2750-B59F-666EE8DBD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D740A-BDA4-ECA4-1B99-62F79C4E81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641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C992-3BFF-5D25-C2B4-E05343D84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C75496-FF08-0460-29F4-7314F8BF2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FB7C84-C3BC-675B-97E6-98205B499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120A3-5729-E26E-4261-9825FB3190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538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3B4AA-9E9E-5BCE-4641-98D4BF8BF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100B2C-514E-EDFA-5CC2-A058EBB04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8A57AC-0080-887D-141F-89330A5F5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63E02-16C0-B5E4-8227-C1A8339348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46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ABE3B-2634-23FF-48CC-FF2470C28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1F7FE1-2BB0-8D88-D238-A43AF8E54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C15AD-3DDC-6FC2-FE2D-0E570D607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DC74F-87DD-537E-ADCD-DB3CDD9DCD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778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8FAFF-0F89-9578-3CC3-550896876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329D8-55EB-1EE7-D077-FE5992747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64CF2D-BC25-2894-4563-48633D196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C9041-3F71-60F4-705F-F25D0C733E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5821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86B92-53B2-2B7C-AECD-7EE91B763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B67106-BB46-337D-23E6-F62DB53E23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422BEE-1D60-20DB-AC1C-95410D231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852D8-6E6C-397F-FD14-5ABFFC99C7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4380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E1A4E-9028-0584-38E0-9CDE80B6C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C7BF38-178A-2218-F077-11C6294A6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425EEC-8837-06B7-0958-F364708B3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66478-D1CA-5079-B06A-A32ED26CC9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658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EF7FB-0019-56CB-45C4-FCD496D9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6B2D5E-03F6-1336-0A23-8677004F9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288762-2F17-6B25-1BC6-29873BF74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4E377-85D9-F635-70A7-39FCD1B09C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990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6EFD6-D2C0-2810-18A6-0E1D781FF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9B5FDE-6456-AF9C-4B17-9AB495022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A101F-1AB7-D767-4A36-46DFA581B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607FB-190C-7F40-CC95-0927753D0B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778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BE327-B43D-948D-1B45-484F48DDF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8F6E2B-86ED-4473-0A64-A121C88138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08D0DF-74AE-4CBA-D4F5-A7FD93A7A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AE92A-C1EC-2A41-5D2E-E66BD16C82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04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D3A71-82A8-A813-F288-604CAFE52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BA5ABE-FED3-1679-5B24-BF6D1068F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A9FA71-54A9-BDE4-3E82-897C6F5C5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463F8-D52B-785E-109A-5805FCCF31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8554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7FA4-F0EB-B0C8-3A40-E62984121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92D352-922D-3482-4F6E-AE9A9F27B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DA7C7C-ECEA-64C3-9A8A-A6C9E278A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A9932-1AF4-73D4-B56B-CE065CD367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9050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15845-5669-75B6-7621-E7F810506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B8121-658B-2A58-D5F3-2E2F4F516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E9D020-3601-C890-86B3-E4481576B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FB2E8-BEDB-DD16-77C8-88F6CA656F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1348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sports_stadium_interior_scene._o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17043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5B44B"/>
                </a:solidFill>
              </a:rPr>
              <a:t>ANÁLISE DE AUDIÊNCIA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713232" y="164592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Notícias do Palmeiras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749808" y="27432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AF3ED"/>
                </a:solidFill>
              </a:rPr>
              <a:t>Análise descritiva, PLN e modelos de classificação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658" y="0"/>
            <a:ext cx="12191695" cy="6858000"/>
          </a:xfrm>
          <a:prstGeom prst="rect">
            <a:avLst/>
          </a:prstGeom>
          <a:solidFill>
            <a:srgbClr val="F7F3E8"/>
          </a:solidFill>
          <a:ln w="12700">
            <a:solidFill>
              <a:srgbClr val="F7F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2F"/>
          </a:solidFill>
          <a:ln w="12700">
            <a:solidFill>
              <a:srgbClr val="0B4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5B44B"/>
          </a:solidFill>
          <a:ln w="12700">
            <a:solidFill>
              <a:srgbClr val="D5B4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notícias • Verdão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65836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13A2A"/>
                </a:solidFill>
              </a:rPr>
              <a:t>Objetivo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243584"/>
            <a:ext cx="914400" cy="0"/>
          </a:xfrm>
          <a:prstGeom prst="line">
            <a:avLst/>
          </a:prstGeom>
          <a:noFill/>
          <a:ln w="25400">
            <a:solidFill>
              <a:srgbClr val="D5B4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325624" y="1636776"/>
            <a:ext cx="120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55720" y="1993392"/>
            <a:ext cx="120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13231" y="1494507"/>
            <a:ext cx="11082529" cy="458625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pt-BR" dirty="0"/>
              <a:t>A proposta consiste em:</a:t>
            </a:r>
          </a:p>
          <a:p>
            <a:endParaRPr lang="pt-BR" dirty="0"/>
          </a:p>
          <a:p>
            <a:pPr marL="285750" indent="-285750">
              <a:buFontTx/>
              <a:buChar char="-"/>
            </a:pPr>
            <a:r>
              <a:rPr lang="pt-BR" dirty="0"/>
              <a:t>coletar notícias sobre o Palmeiras por meio de web </a:t>
            </a:r>
            <a:r>
              <a:rPr lang="pt-BR" dirty="0" err="1"/>
              <a:t>scraping</a:t>
            </a:r>
            <a:r>
              <a:rPr lang="pt-BR" dirty="0"/>
              <a:t>;</a:t>
            </a:r>
          </a:p>
          <a:p>
            <a:pPr marL="285750" indent="-285750">
              <a:buFontTx/>
              <a:buChar char="-"/>
            </a:pPr>
            <a:endParaRPr lang="pt-BR" dirty="0"/>
          </a:p>
          <a:p>
            <a:pPr marL="285750" indent="-285750">
              <a:buFontTx/>
              <a:buChar char="-"/>
            </a:pPr>
            <a:r>
              <a:rPr lang="pt-BR" dirty="0"/>
              <a:t>organizar informações como título, data, texto da notícia e número de visitas;</a:t>
            </a:r>
          </a:p>
          <a:p>
            <a:pPr marL="285750" indent="-285750">
              <a:buFontTx/>
              <a:buChar char="-"/>
            </a:pPr>
            <a:endParaRPr lang="pt-BR" dirty="0"/>
          </a:p>
          <a:p>
            <a:pPr marL="285750" indent="-285750">
              <a:buFontTx/>
              <a:buChar char="-"/>
            </a:pPr>
            <a:r>
              <a:rPr lang="pt-BR" dirty="0"/>
              <a:t>aplicar técnicas de NLP para limpeza e transformação dos textos;</a:t>
            </a:r>
          </a:p>
          <a:p>
            <a:pPr marL="285750" indent="-285750">
              <a:buFontTx/>
              <a:buChar char="-"/>
            </a:pPr>
            <a:endParaRPr lang="pt-BR" dirty="0"/>
          </a:p>
          <a:p>
            <a:pPr marL="285750" indent="-285750">
              <a:buFontTx/>
              <a:buChar char="-"/>
            </a:pPr>
            <a:r>
              <a:rPr lang="pt-BR" dirty="0"/>
              <a:t>analisar as palavras mais frequentes após remoção de </a:t>
            </a:r>
            <a:r>
              <a:rPr lang="pt-BR" dirty="0" err="1"/>
              <a:t>stopwords</a:t>
            </a:r>
            <a:r>
              <a:rPr lang="pt-BR" dirty="0"/>
              <a:t>;</a:t>
            </a:r>
          </a:p>
          <a:p>
            <a:pPr marL="285750" indent="-285750">
              <a:buFontTx/>
              <a:buChar char="-"/>
            </a:pPr>
            <a:endParaRPr lang="pt-BR" dirty="0"/>
          </a:p>
          <a:p>
            <a:pPr marL="285750" indent="-285750">
              <a:buFontTx/>
              <a:buChar char="-"/>
            </a:pPr>
            <a:r>
              <a:rPr lang="pt-BR" dirty="0"/>
              <a:t>gerar visualizações, como nuvem de palavras;</a:t>
            </a:r>
          </a:p>
          <a:p>
            <a:pPr marL="285750" indent="-285750">
              <a:buFontTx/>
              <a:buChar char="-"/>
            </a:pPr>
            <a:endParaRPr lang="pt-BR" dirty="0"/>
          </a:p>
          <a:p>
            <a:pPr marL="285750" indent="-285750">
              <a:buFontTx/>
              <a:buChar char="-"/>
            </a:pPr>
            <a:r>
              <a:rPr lang="pt-BR" dirty="0"/>
              <a:t>explorar padrões nos textos e nas visitas das notícias;</a:t>
            </a:r>
          </a:p>
          <a:p>
            <a:pPr marL="285750" indent="-285750">
              <a:buFontTx/>
              <a:buChar char="-"/>
            </a:pPr>
            <a:endParaRPr lang="pt-BR" dirty="0"/>
          </a:p>
          <a:p>
            <a:r>
              <a:rPr lang="pt-BR" dirty="0"/>
              <a:t>- criar uma base estruturada para possíveis aplicações de machine learning.</a:t>
            </a:r>
          </a:p>
          <a:p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sports_stadium_interior_scene._o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488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1. </a:t>
            </a:r>
            <a:r>
              <a:rPr lang="en-US" sz="4200" b="1" dirty="0" err="1">
                <a:solidFill>
                  <a:srgbClr val="FFFFFF"/>
                </a:solidFill>
              </a:rPr>
              <a:t>Visão</a:t>
            </a:r>
            <a:r>
              <a:rPr lang="en-US" sz="4200" b="1" dirty="0">
                <a:solidFill>
                  <a:srgbClr val="FFFFFF"/>
                </a:solidFill>
              </a:rPr>
              <a:t> geral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77240" y="3063240"/>
            <a:ext cx="1417320" cy="0"/>
          </a:xfrm>
          <a:prstGeom prst="line">
            <a:avLst/>
          </a:prstGeom>
          <a:noFill/>
          <a:ln w="38100">
            <a:solidFill>
              <a:srgbClr val="D5B4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77240" y="33375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8"/>
          </a:solidFill>
          <a:ln w="12700">
            <a:solidFill>
              <a:srgbClr val="F7F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2F"/>
          </a:solidFill>
          <a:ln w="12700">
            <a:solidFill>
              <a:srgbClr val="0B4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5B44B"/>
          </a:solidFill>
          <a:ln w="12700">
            <a:solidFill>
              <a:srgbClr val="D5B4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notícias • Verdão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347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3784D"/>
                </a:solidFill>
              </a:rPr>
              <a:t>ANÁLISE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65836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3A2A"/>
                </a:solidFill>
              </a:rPr>
              <a:t>Visão </a:t>
            </a:r>
            <a:r>
              <a:rPr lang="en-US" sz="3000" b="1" dirty="0" err="1">
                <a:solidFill>
                  <a:srgbClr val="113A2A"/>
                </a:solidFill>
              </a:rPr>
              <a:t>geral</a:t>
            </a:r>
            <a:r>
              <a:rPr lang="en-US" sz="3000" b="1" dirty="0">
                <a:solidFill>
                  <a:srgbClr val="113A2A"/>
                </a:solidFill>
              </a:rPr>
              <a:t> da base - Noticias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243584"/>
            <a:ext cx="914400" cy="0"/>
          </a:xfrm>
          <a:prstGeom prst="line">
            <a:avLst/>
          </a:prstGeom>
          <a:noFill/>
          <a:ln w="25400">
            <a:solidFill>
              <a:srgbClr val="D5B4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13232" y="2560320"/>
            <a:ext cx="4407408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02920" y="1417319"/>
            <a:ext cx="11018520" cy="5307945"/>
          </a:xfrm>
          <a:prstGeom prst="roundRect">
            <a:avLst>
              <a:gd name="adj" fmla="val 155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1378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F59DFEAE-AF04-4B9E-F54D-EBF22C9CD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09" y="1550481"/>
            <a:ext cx="10788467" cy="5041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07A54-E884-C88D-2CF1-2714CC982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585F49-8E9D-D8C0-6F80-EE945FC226C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8"/>
          </a:solidFill>
          <a:ln w="12700">
            <a:solidFill>
              <a:srgbClr val="F7F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21E92B9-386D-ED7B-5B2D-C0683B1CD47C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2F"/>
          </a:solidFill>
          <a:ln w="12700">
            <a:solidFill>
              <a:srgbClr val="0B4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60CCADC-D674-714F-BD00-A4D0CCCBBB0B}"/>
              </a:ext>
            </a:extLst>
          </p:cNvPr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5B44B"/>
          </a:solidFill>
          <a:ln w="12700">
            <a:solidFill>
              <a:srgbClr val="D5B4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8565F16-1D93-FB89-8AAB-E9AB4B8C1E26}"/>
              </a:ext>
            </a:extLst>
          </p:cNvPr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notícias • Verdão Web</a:t>
            </a:r>
            <a:endParaRPr lang="en-US" sz="8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30F1D1B-D030-FB69-A5C4-132AEB2C1C16}"/>
              </a:ext>
            </a:extLst>
          </p:cNvPr>
          <p:cNvSpPr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7376FA0-22FC-EFF7-9836-823D5F706149}"/>
              </a:ext>
            </a:extLst>
          </p:cNvPr>
          <p:cNvSpPr/>
          <p:nvPr/>
        </p:nvSpPr>
        <p:spPr>
          <a:xfrm>
            <a:off x="685800" y="347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3784D"/>
                </a:solidFill>
              </a:rPr>
              <a:t>ANÁLISE</a:t>
            </a:r>
            <a:endParaRPr lang="en-US" sz="8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B1AD461-0CC0-4104-21F5-10195DBAD280}"/>
              </a:ext>
            </a:extLst>
          </p:cNvPr>
          <p:cNvSpPr/>
          <p:nvPr/>
        </p:nvSpPr>
        <p:spPr>
          <a:xfrm>
            <a:off x="685800" y="65836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3A2A"/>
                </a:solidFill>
              </a:rPr>
              <a:t>Visão </a:t>
            </a:r>
            <a:r>
              <a:rPr lang="en-US" sz="3000" b="1" dirty="0" err="1">
                <a:solidFill>
                  <a:srgbClr val="113A2A"/>
                </a:solidFill>
              </a:rPr>
              <a:t>geral</a:t>
            </a:r>
            <a:r>
              <a:rPr lang="en-US" sz="3000" b="1" dirty="0">
                <a:solidFill>
                  <a:srgbClr val="113A2A"/>
                </a:solidFill>
              </a:rPr>
              <a:t> da base - BOW</a:t>
            </a:r>
            <a:endParaRPr lang="en-US" sz="3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D05D879-D8C6-1FB7-E6BA-3DFBD700D42C}"/>
              </a:ext>
            </a:extLst>
          </p:cNvPr>
          <p:cNvSpPr/>
          <p:nvPr/>
        </p:nvSpPr>
        <p:spPr>
          <a:xfrm>
            <a:off x="685800" y="1243584"/>
            <a:ext cx="914400" cy="0"/>
          </a:xfrm>
          <a:prstGeom prst="line">
            <a:avLst/>
          </a:prstGeom>
          <a:noFill/>
          <a:ln w="25400">
            <a:solidFill>
              <a:srgbClr val="D5B4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D3EBBF7-DD05-DAC0-7C30-065E65108693}"/>
              </a:ext>
            </a:extLst>
          </p:cNvPr>
          <p:cNvSpPr/>
          <p:nvPr/>
        </p:nvSpPr>
        <p:spPr>
          <a:xfrm>
            <a:off x="713232" y="2560320"/>
            <a:ext cx="4407408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endParaRPr lang="en-US" sz="17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2E1F788-A92F-329D-C680-C420F856C537}"/>
              </a:ext>
            </a:extLst>
          </p:cNvPr>
          <p:cNvSpPr/>
          <p:nvPr/>
        </p:nvSpPr>
        <p:spPr>
          <a:xfrm>
            <a:off x="502920" y="1417319"/>
            <a:ext cx="11018520" cy="5307945"/>
          </a:xfrm>
          <a:prstGeom prst="roundRect">
            <a:avLst>
              <a:gd name="adj" fmla="val 155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1378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3D844552-DCB3-5C08-FE81-BC775AFCD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1" y="1670498"/>
            <a:ext cx="10603697" cy="463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238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6D931-D5EC-E553-0F7A-0A353B256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219BF4-AF89-E49F-A491-547245D0F22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8"/>
          </a:solidFill>
          <a:ln w="12700">
            <a:solidFill>
              <a:srgbClr val="F7F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0DDD8E9-DB8D-5F16-F0E4-56BFA3F8FA8D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2F"/>
          </a:solidFill>
          <a:ln w="12700">
            <a:solidFill>
              <a:srgbClr val="0B4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722130B-03E9-44AD-93D8-9936B80F0BAE}"/>
              </a:ext>
            </a:extLst>
          </p:cNvPr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5B44B"/>
          </a:solidFill>
          <a:ln w="12700">
            <a:solidFill>
              <a:srgbClr val="D5B4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0BE07B8-E98F-2A8B-E6EB-F7B0A3AAAC03}"/>
              </a:ext>
            </a:extLst>
          </p:cNvPr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notícias • Verdão Web</a:t>
            </a:r>
            <a:endParaRPr lang="en-US" sz="8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5F17560-B12C-AF68-FE6D-2BFDE7E6566A}"/>
              </a:ext>
            </a:extLst>
          </p:cNvPr>
          <p:cNvSpPr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2F17DFB-E6A5-CB5E-4AB1-42D4417C26A4}"/>
              </a:ext>
            </a:extLst>
          </p:cNvPr>
          <p:cNvSpPr/>
          <p:nvPr/>
        </p:nvSpPr>
        <p:spPr>
          <a:xfrm>
            <a:off x="685800" y="347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3784D"/>
                </a:solidFill>
              </a:rPr>
              <a:t>ANÁLISE</a:t>
            </a:r>
            <a:endParaRPr lang="en-US" sz="8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2C690A8-A33F-7C1F-4417-F1AD0F490E15}"/>
              </a:ext>
            </a:extLst>
          </p:cNvPr>
          <p:cNvSpPr/>
          <p:nvPr/>
        </p:nvSpPr>
        <p:spPr>
          <a:xfrm>
            <a:off x="685800" y="65836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3A2A"/>
                </a:solidFill>
              </a:rPr>
              <a:t>Visão </a:t>
            </a:r>
            <a:r>
              <a:rPr lang="en-US" sz="3000" b="1" dirty="0" err="1">
                <a:solidFill>
                  <a:srgbClr val="113A2A"/>
                </a:solidFill>
              </a:rPr>
              <a:t>geral</a:t>
            </a:r>
            <a:r>
              <a:rPr lang="en-US" sz="3000" b="1" dirty="0">
                <a:solidFill>
                  <a:srgbClr val="113A2A"/>
                </a:solidFill>
              </a:rPr>
              <a:t> da base – TF IDF</a:t>
            </a:r>
            <a:endParaRPr lang="en-US" sz="3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1F5DE29-CFEF-FCEB-EA03-8456EEF4CF13}"/>
              </a:ext>
            </a:extLst>
          </p:cNvPr>
          <p:cNvSpPr/>
          <p:nvPr/>
        </p:nvSpPr>
        <p:spPr>
          <a:xfrm>
            <a:off x="685800" y="1243584"/>
            <a:ext cx="914400" cy="0"/>
          </a:xfrm>
          <a:prstGeom prst="line">
            <a:avLst/>
          </a:prstGeom>
          <a:noFill/>
          <a:ln w="25400">
            <a:solidFill>
              <a:srgbClr val="D5B4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B75136C-AF93-D8C9-5BAD-1A9B0815BF4E}"/>
              </a:ext>
            </a:extLst>
          </p:cNvPr>
          <p:cNvSpPr/>
          <p:nvPr/>
        </p:nvSpPr>
        <p:spPr>
          <a:xfrm>
            <a:off x="713232" y="2560320"/>
            <a:ext cx="4407408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endParaRPr lang="en-US" sz="17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C0BD1B9-F43F-B104-B3C5-CE4BE4C4DEA3}"/>
              </a:ext>
            </a:extLst>
          </p:cNvPr>
          <p:cNvSpPr/>
          <p:nvPr/>
        </p:nvSpPr>
        <p:spPr>
          <a:xfrm>
            <a:off x="502920" y="2033898"/>
            <a:ext cx="11018520" cy="3520440"/>
          </a:xfrm>
          <a:prstGeom prst="roundRect">
            <a:avLst>
              <a:gd name="adj" fmla="val 155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1378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3AE170A4-2BD4-5958-646E-3101EFBEE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637402"/>
            <a:ext cx="10471355" cy="238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607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5EFC4-8C53-2E09-4B90-040276785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85B08AE-6470-2F3F-CFFD-6B8C2EF0B7C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8"/>
          </a:solidFill>
          <a:ln w="12700">
            <a:solidFill>
              <a:srgbClr val="F7F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0214749-C6F5-087C-AE13-C037C55E4EC4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2F"/>
          </a:solidFill>
          <a:ln w="12700">
            <a:solidFill>
              <a:srgbClr val="0B4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66CB660-378D-F668-3B2A-0E14F4A05607}"/>
              </a:ext>
            </a:extLst>
          </p:cNvPr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5B44B"/>
          </a:solidFill>
          <a:ln w="12700">
            <a:solidFill>
              <a:srgbClr val="D5B4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36EF0EC-8036-2008-D6BA-0EBD72571359}"/>
              </a:ext>
            </a:extLst>
          </p:cNvPr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notícias • Verdão Web</a:t>
            </a:r>
            <a:endParaRPr lang="en-US" sz="8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69050BC-E928-2260-0674-3067D2D20F5F}"/>
              </a:ext>
            </a:extLst>
          </p:cNvPr>
          <p:cNvSpPr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BA42149-82EF-98AE-9E1B-F362B3BF7397}"/>
              </a:ext>
            </a:extLst>
          </p:cNvPr>
          <p:cNvSpPr/>
          <p:nvPr/>
        </p:nvSpPr>
        <p:spPr>
          <a:xfrm>
            <a:off x="685800" y="347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3784D"/>
                </a:solidFill>
              </a:rPr>
              <a:t>ANÁLISE</a:t>
            </a:r>
            <a:endParaRPr lang="en-US" sz="8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1D86284-22EC-E28A-D839-5037E936C02E}"/>
              </a:ext>
            </a:extLst>
          </p:cNvPr>
          <p:cNvSpPr/>
          <p:nvPr/>
        </p:nvSpPr>
        <p:spPr>
          <a:xfrm>
            <a:off x="685800" y="65836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3A2A"/>
                </a:solidFill>
              </a:rPr>
              <a:t>Visão </a:t>
            </a:r>
            <a:r>
              <a:rPr lang="en-US" sz="3000" b="1" dirty="0" err="1">
                <a:solidFill>
                  <a:srgbClr val="113A2A"/>
                </a:solidFill>
              </a:rPr>
              <a:t>geral</a:t>
            </a:r>
            <a:r>
              <a:rPr lang="en-US" sz="3000" b="1" dirty="0">
                <a:solidFill>
                  <a:srgbClr val="113A2A"/>
                </a:solidFill>
              </a:rPr>
              <a:t> da base – </a:t>
            </a:r>
            <a:r>
              <a:rPr lang="en-US" sz="3000" b="1" dirty="0" err="1">
                <a:solidFill>
                  <a:srgbClr val="113A2A"/>
                </a:solidFill>
              </a:rPr>
              <a:t>Notícias</a:t>
            </a:r>
            <a:r>
              <a:rPr lang="en-US" sz="3000" b="1" dirty="0">
                <a:solidFill>
                  <a:srgbClr val="113A2A"/>
                </a:solidFill>
              </a:rPr>
              <a:t> e Visitas</a:t>
            </a:r>
            <a:endParaRPr lang="en-US" sz="3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F816E64-3090-B5AF-6AD5-1D0B2AA80F27}"/>
              </a:ext>
            </a:extLst>
          </p:cNvPr>
          <p:cNvSpPr/>
          <p:nvPr/>
        </p:nvSpPr>
        <p:spPr>
          <a:xfrm>
            <a:off x="685800" y="1243584"/>
            <a:ext cx="914400" cy="0"/>
          </a:xfrm>
          <a:prstGeom prst="line">
            <a:avLst/>
          </a:prstGeom>
          <a:noFill/>
          <a:ln w="25400">
            <a:solidFill>
              <a:srgbClr val="D5B4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1A54DBE-DA5C-527C-849B-1C2F1CD0026D}"/>
              </a:ext>
            </a:extLst>
          </p:cNvPr>
          <p:cNvSpPr/>
          <p:nvPr/>
        </p:nvSpPr>
        <p:spPr>
          <a:xfrm>
            <a:off x="713232" y="2560320"/>
            <a:ext cx="4407408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endParaRPr lang="en-US" sz="17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A659D93-B38A-4920-2E9E-0A31E9302B5D}"/>
              </a:ext>
            </a:extLst>
          </p:cNvPr>
          <p:cNvSpPr/>
          <p:nvPr/>
        </p:nvSpPr>
        <p:spPr>
          <a:xfrm>
            <a:off x="1671484" y="1417320"/>
            <a:ext cx="9849956" cy="4709160"/>
          </a:xfrm>
          <a:prstGeom prst="roundRect">
            <a:avLst>
              <a:gd name="adj" fmla="val 155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1378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0A84286-ACA6-AC2C-A533-F46CA5A0CC5D}"/>
              </a:ext>
            </a:extLst>
          </p:cNvPr>
          <p:cNvSpPr/>
          <p:nvPr/>
        </p:nvSpPr>
        <p:spPr>
          <a:xfrm>
            <a:off x="5222895" y="1577290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4F2F"/>
                </a:solidFill>
              </a:rPr>
              <a:t>Tabela descritiva de visitas</a:t>
            </a:r>
            <a:endParaRPr lang="en-US" sz="1600" dirty="0"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68C5AF09-A49F-DFDD-E8EA-AC2139A2B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112263"/>
            <a:ext cx="4140452" cy="369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290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-1371698"/>
            <a:ext cx="12191695" cy="6858000"/>
          </a:xfrm>
          <a:prstGeom prst="rect">
            <a:avLst/>
          </a:prstGeom>
          <a:solidFill>
            <a:srgbClr val="F7F3E8"/>
          </a:solidFill>
          <a:ln w="12700">
            <a:solidFill>
              <a:srgbClr val="F7F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2F"/>
          </a:solidFill>
          <a:ln w="12700">
            <a:solidFill>
              <a:srgbClr val="0B4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5B44B"/>
          </a:solidFill>
          <a:ln w="12700">
            <a:solidFill>
              <a:srgbClr val="D5B4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notícias • Verdão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347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3784D"/>
                </a:solidFill>
              </a:rPr>
              <a:t>ANÁLISE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65836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3A2A"/>
                </a:solidFill>
              </a:rPr>
              <a:t>Notícias mais acessadas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243584"/>
            <a:ext cx="914400" cy="0"/>
          </a:xfrm>
          <a:prstGeom prst="line">
            <a:avLst/>
          </a:prstGeom>
          <a:noFill/>
          <a:ln w="25400">
            <a:solidFill>
              <a:srgbClr val="D5B4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85800" y="2005288"/>
            <a:ext cx="4407408" cy="32554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700" dirty="0">
                <a:solidFill>
                  <a:srgbClr val="113A2A"/>
                </a:solidFill>
              </a:rPr>
              <a:t>As notícias de maior audiência estão ligadas a </a:t>
            </a:r>
            <a:r>
              <a:rPr lang="en-US" sz="1700" dirty="0" err="1">
                <a:solidFill>
                  <a:srgbClr val="113A2A"/>
                </a:solidFill>
              </a:rPr>
              <a:t>temas</a:t>
            </a:r>
            <a:r>
              <a:rPr lang="en-US" sz="1700" dirty="0">
                <a:solidFill>
                  <a:srgbClr val="113A2A"/>
                </a:solidFill>
              </a:rPr>
              <a:t> </a:t>
            </a:r>
            <a:r>
              <a:rPr lang="en-US" sz="1700" dirty="0" err="1">
                <a:solidFill>
                  <a:srgbClr val="113A2A"/>
                </a:solidFill>
              </a:rPr>
              <a:t>como</a:t>
            </a:r>
            <a:r>
              <a:rPr lang="en-US" sz="1700" dirty="0">
                <a:solidFill>
                  <a:srgbClr val="113A2A"/>
                </a:solidFill>
              </a:rPr>
              <a:t>: reforços, contratações, </a:t>
            </a:r>
            <a:r>
              <a:rPr lang="en-US" sz="1700" dirty="0" err="1">
                <a:solidFill>
                  <a:srgbClr val="113A2A"/>
                </a:solidFill>
              </a:rPr>
              <a:t>propostas</a:t>
            </a:r>
            <a:r>
              <a:rPr lang="en-US" sz="1700" dirty="0">
                <a:solidFill>
                  <a:srgbClr val="113A2A"/>
                </a:solidFill>
              </a:rPr>
              <a:t> </a:t>
            </a:r>
            <a:r>
              <a:rPr lang="en-US" sz="1700" dirty="0" err="1">
                <a:solidFill>
                  <a:srgbClr val="113A2A"/>
                </a:solidFill>
              </a:rPr>
              <a:t>milionárias</a:t>
            </a:r>
            <a:r>
              <a:rPr lang="en-US" sz="1700" dirty="0">
                <a:solidFill>
                  <a:srgbClr val="113A2A"/>
                </a:solidFill>
              </a:rPr>
              <a:t>.</a:t>
            </a:r>
          </a:p>
          <a:p>
            <a:endParaRPr lang="en-US" sz="1700" dirty="0"/>
          </a:p>
          <a:p>
            <a:r>
              <a:rPr lang="en-US" sz="1700" dirty="0">
                <a:solidFill>
                  <a:srgbClr val="113A2A"/>
                </a:solidFill>
              </a:rPr>
              <a:t>Esses temas parecem atrair maior curiosidade e engajamento do público.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23560" y="1417320"/>
            <a:ext cx="6312408" cy="4709160"/>
          </a:xfrm>
          <a:prstGeom prst="roundRect">
            <a:avLst>
              <a:gd name="adj" fmla="val 155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1378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852160" y="1618488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4F2F"/>
                </a:solidFill>
              </a:rPr>
              <a:t>Tabela com top notícias por visitas</a:t>
            </a:r>
            <a:endParaRPr lang="en-US" sz="16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115F3379-AD7E-C232-8E1D-A136D37EF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374" y="2061063"/>
            <a:ext cx="5936779" cy="38579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CF535-1F4C-9CF6-3EFD-8579C9EBE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224046-C19D-0B8F-0CA9-4AC25E213DA6}"/>
              </a:ext>
            </a:extLst>
          </p:cNvPr>
          <p:cNvSpPr/>
          <p:nvPr/>
        </p:nvSpPr>
        <p:spPr>
          <a:xfrm>
            <a:off x="305" y="-1371698"/>
            <a:ext cx="12191695" cy="6858000"/>
          </a:xfrm>
          <a:prstGeom prst="rect">
            <a:avLst/>
          </a:prstGeom>
          <a:solidFill>
            <a:srgbClr val="F7F3E8"/>
          </a:solidFill>
          <a:ln w="12700">
            <a:solidFill>
              <a:srgbClr val="F7F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31C82B8-2E57-68A2-5685-FB59FD1E2C67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2F"/>
          </a:solidFill>
          <a:ln w="12700">
            <a:solidFill>
              <a:srgbClr val="0B4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FDDCB86-3A8B-CF09-4ABB-3BCEBF0A4563}"/>
              </a:ext>
            </a:extLst>
          </p:cNvPr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5B44B"/>
          </a:solidFill>
          <a:ln w="12700">
            <a:solidFill>
              <a:srgbClr val="D5B4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435165C-86B2-697F-2527-500127C614FE}"/>
              </a:ext>
            </a:extLst>
          </p:cNvPr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notícias • Verdão Web</a:t>
            </a:r>
            <a:endParaRPr lang="en-US" sz="8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F829936-B1AC-F61A-0E3D-97FE57CB2431}"/>
              </a:ext>
            </a:extLst>
          </p:cNvPr>
          <p:cNvSpPr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40B870A-B78C-4DC9-A369-D59F42D91829}"/>
              </a:ext>
            </a:extLst>
          </p:cNvPr>
          <p:cNvSpPr/>
          <p:nvPr/>
        </p:nvSpPr>
        <p:spPr>
          <a:xfrm>
            <a:off x="685800" y="347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3784D"/>
                </a:solidFill>
              </a:rPr>
              <a:t>ANÁLISE</a:t>
            </a:r>
            <a:endParaRPr lang="en-US" sz="8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099B748-C467-05F8-8EFF-685E53847BDC}"/>
              </a:ext>
            </a:extLst>
          </p:cNvPr>
          <p:cNvSpPr/>
          <p:nvPr/>
        </p:nvSpPr>
        <p:spPr>
          <a:xfrm>
            <a:off x="685800" y="65836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3A2A"/>
                </a:solidFill>
              </a:rPr>
              <a:t>Notícias mais acessadas</a:t>
            </a:r>
            <a:endParaRPr lang="en-US" sz="3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F2165EF-8606-D281-B73E-ACC3E34CEAE6}"/>
              </a:ext>
            </a:extLst>
          </p:cNvPr>
          <p:cNvSpPr/>
          <p:nvPr/>
        </p:nvSpPr>
        <p:spPr>
          <a:xfrm>
            <a:off x="685800" y="1243584"/>
            <a:ext cx="914400" cy="0"/>
          </a:xfrm>
          <a:prstGeom prst="line">
            <a:avLst/>
          </a:prstGeom>
          <a:noFill/>
          <a:ln w="25400">
            <a:solidFill>
              <a:srgbClr val="D5B4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172A2F9-A186-A821-A973-F9EDA2E34601}"/>
              </a:ext>
            </a:extLst>
          </p:cNvPr>
          <p:cNvSpPr/>
          <p:nvPr/>
        </p:nvSpPr>
        <p:spPr>
          <a:xfrm>
            <a:off x="685800" y="2005288"/>
            <a:ext cx="4407408" cy="32554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700" dirty="0">
                <a:solidFill>
                  <a:srgbClr val="113A2A"/>
                </a:solidFill>
              </a:rPr>
              <a:t>As notícias de maior audiência estão ligadas a </a:t>
            </a:r>
            <a:r>
              <a:rPr lang="en-US" sz="1700" dirty="0" err="1">
                <a:solidFill>
                  <a:srgbClr val="113A2A"/>
                </a:solidFill>
              </a:rPr>
              <a:t>temas</a:t>
            </a:r>
            <a:r>
              <a:rPr lang="en-US" sz="1700" dirty="0">
                <a:solidFill>
                  <a:srgbClr val="113A2A"/>
                </a:solidFill>
              </a:rPr>
              <a:t> </a:t>
            </a:r>
            <a:r>
              <a:rPr lang="en-US" sz="1700" dirty="0" err="1">
                <a:solidFill>
                  <a:srgbClr val="113A2A"/>
                </a:solidFill>
              </a:rPr>
              <a:t>como</a:t>
            </a:r>
            <a:r>
              <a:rPr lang="en-US" sz="1700" dirty="0">
                <a:solidFill>
                  <a:srgbClr val="113A2A"/>
                </a:solidFill>
              </a:rPr>
              <a:t>: reforços, contratações, </a:t>
            </a:r>
            <a:r>
              <a:rPr lang="en-US" sz="1700" dirty="0" err="1">
                <a:solidFill>
                  <a:srgbClr val="113A2A"/>
                </a:solidFill>
              </a:rPr>
              <a:t>propostas</a:t>
            </a:r>
            <a:r>
              <a:rPr lang="en-US" sz="1700" dirty="0">
                <a:solidFill>
                  <a:srgbClr val="113A2A"/>
                </a:solidFill>
              </a:rPr>
              <a:t> </a:t>
            </a:r>
            <a:r>
              <a:rPr lang="en-US" sz="1700" dirty="0" err="1">
                <a:solidFill>
                  <a:srgbClr val="113A2A"/>
                </a:solidFill>
              </a:rPr>
              <a:t>milionárias</a:t>
            </a:r>
            <a:r>
              <a:rPr lang="en-US" sz="1700" dirty="0">
                <a:solidFill>
                  <a:srgbClr val="113A2A"/>
                </a:solidFill>
              </a:rPr>
              <a:t>.</a:t>
            </a:r>
          </a:p>
          <a:p>
            <a:endParaRPr lang="en-US" sz="1700" dirty="0"/>
          </a:p>
          <a:p>
            <a:r>
              <a:rPr lang="en-US" sz="1700" dirty="0">
                <a:solidFill>
                  <a:srgbClr val="113A2A"/>
                </a:solidFill>
              </a:rPr>
              <a:t>Esses temas parecem atrair maior curiosidade e engajamento do público.</a:t>
            </a:r>
            <a:endParaRPr lang="en-US" sz="17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5D00667-DC2B-E334-8DEA-3D2CDB6D8F06}"/>
              </a:ext>
            </a:extLst>
          </p:cNvPr>
          <p:cNvSpPr/>
          <p:nvPr/>
        </p:nvSpPr>
        <p:spPr>
          <a:xfrm>
            <a:off x="5623560" y="1417320"/>
            <a:ext cx="6312408" cy="4709160"/>
          </a:xfrm>
          <a:prstGeom prst="roundRect">
            <a:avLst>
              <a:gd name="adj" fmla="val 155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1378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2301A19-6D2E-7FD1-E64A-5D6E5F744DAC}"/>
              </a:ext>
            </a:extLst>
          </p:cNvPr>
          <p:cNvSpPr/>
          <p:nvPr/>
        </p:nvSpPr>
        <p:spPr>
          <a:xfrm>
            <a:off x="5852160" y="1618488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4F2F"/>
                </a:solidFill>
              </a:rPr>
              <a:t>Tabela com top notícias por visitas</a:t>
            </a:r>
            <a:endParaRPr lang="en-US" sz="16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24A01542-3A57-0985-0580-A2349B93E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374" y="2061063"/>
            <a:ext cx="5936779" cy="385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04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891E2-B562-907C-A627-335123A17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900F5E8E-3725-4365-F2EC-2F2548ED8F48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2F"/>
          </a:solidFill>
          <a:ln w="12700">
            <a:solidFill>
              <a:srgbClr val="0B4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30EF083-E662-7064-1E0F-2C3489044170}"/>
              </a:ext>
            </a:extLst>
          </p:cNvPr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5B44B"/>
          </a:solidFill>
          <a:ln w="12700">
            <a:solidFill>
              <a:srgbClr val="D5B4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1640777-0FFB-4761-024A-D2951176208E}"/>
              </a:ext>
            </a:extLst>
          </p:cNvPr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notícias • Verdão Web</a:t>
            </a:r>
            <a:endParaRPr lang="en-US" sz="8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B3040E6-11CF-26B1-9FF9-D2ADDC0B1BB1}"/>
              </a:ext>
            </a:extLst>
          </p:cNvPr>
          <p:cNvSpPr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D8225ED-7A73-2DD9-CCB6-02F846C115D4}"/>
              </a:ext>
            </a:extLst>
          </p:cNvPr>
          <p:cNvSpPr/>
          <p:nvPr/>
        </p:nvSpPr>
        <p:spPr>
          <a:xfrm>
            <a:off x="685800" y="347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3784D"/>
                </a:solidFill>
              </a:rPr>
              <a:t>ANÁLISE</a:t>
            </a:r>
            <a:endParaRPr lang="en-US" sz="8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20D386E-9FFA-F245-ACB0-8BF2A1684E60}"/>
              </a:ext>
            </a:extLst>
          </p:cNvPr>
          <p:cNvSpPr/>
          <p:nvPr/>
        </p:nvSpPr>
        <p:spPr>
          <a:xfrm>
            <a:off x="685800" y="65836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13A2A"/>
                </a:solidFill>
              </a:rPr>
              <a:t>Quantidade</a:t>
            </a:r>
            <a:r>
              <a:rPr lang="en-US" sz="3000" b="1" dirty="0">
                <a:solidFill>
                  <a:srgbClr val="113A2A"/>
                </a:solidFill>
              </a:rPr>
              <a:t> de </a:t>
            </a:r>
            <a:r>
              <a:rPr lang="en-US" sz="3000" b="1" dirty="0" err="1">
                <a:solidFill>
                  <a:srgbClr val="113A2A"/>
                </a:solidFill>
              </a:rPr>
              <a:t>notícias</a:t>
            </a:r>
            <a:r>
              <a:rPr lang="en-US" sz="3000" b="1" dirty="0">
                <a:solidFill>
                  <a:srgbClr val="113A2A"/>
                </a:solidFill>
              </a:rPr>
              <a:t> </a:t>
            </a:r>
            <a:r>
              <a:rPr lang="en-US" sz="3000" b="1" dirty="0" err="1">
                <a:solidFill>
                  <a:srgbClr val="113A2A"/>
                </a:solidFill>
              </a:rPr>
              <a:t>coletadas</a:t>
            </a:r>
            <a:r>
              <a:rPr lang="en-US" sz="3000" b="1" dirty="0">
                <a:solidFill>
                  <a:srgbClr val="113A2A"/>
                </a:solidFill>
              </a:rPr>
              <a:t> </a:t>
            </a:r>
            <a:r>
              <a:rPr lang="en-US" sz="3000" b="1" dirty="0" err="1">
                <a:solidFill>
                  <a:srgbClr val="113A2A"/>
                </a:solidFill>
              </a:rPr>
              <a:t>por</a:t>
            </a:r>
            <a:r>
              <a:rPr lang="en-US" sz="3000" b="1" dirty="0">
                <a:solidFill>
                  <a:srgbClr val="113A2A"/>
                </a:solidFill>
              </a:rPr>
              <a:t> </a:t>
            </a:r>
            <a:r>
              <a:rPr lang="en-US" sz="3000" b="1" dirty="0" err="1">
                <a:solidFill>
                  <a:srgbClr val="113A2A"/>
                </a:solidFill>
              </a:rPr>
              <a:t>mês</a:t>
            </a:r>
            <a:endParaRPr lang="en-US" sz="3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E5C59D4-2DE6-27E0-1CB8-B2D965A96B8F}"/>
              </a:ext>
            </a:extLst>
          </p:cNvPr>
          <p:cNvSpPr/>
          <p:nvPr/>
        </p:nvSpPr>
        <p:spPr>
          <a:xfrm>
            <a:off x="685800" y="1243584"/>
            <a:ext cx="914400" cy="0"/>
          </a:xfrm>
          <a:prstGeom prst="line">
            <a:avLst/>
          </a:prstGeom>
          <a:noFill/>
          <a:ln w="25400">
            <a:solidFill>
              <a:srgbClr val="D5B4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CB18A05-7A6E-FC70-A81E-DB326759906F}"/>
              </a:ext>
            </a:extLst>
          </p:cNvPr>
          <p:cNvSpPr/>
          <p:nvPr/>
        </p:nvSpPr>
        <p:spPr>
          <a:xfrm>
            <a:off x="685800" y="2005288"/>
            <a:ext cx="4407408" cy="32554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endParaRPr lang="en-US" sz="17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3C7D5EB-0238-D84A-AC73-EB93D88AEC89}"/>
              </a:ext>
            </a:extLst>
          </p:cNvPr>
          <p:cNvSpPr/>
          <p:nvPr/>
        </p:nvSpPr>
        <p:spPr>
          <a:xfrm>
            <a:off x="502920" y="1417320"/>
            <a:ext cx="11433048" cy="4709160"/>
          </a:xfrm>
          <a:prstGeom prst="roundRect">
            <a:avLst>
              <a:gd name="adj" fmla="val 155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1378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647D1B31-630E-C2AF-2079-1F3F208F9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837" y="1563625"/>
            <a:ext cx="10245213" cy="446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318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94ED1-407E-7E22-03A9-4B20D1871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493D8C-35BF-0074-D140-2EB016E3AE78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2F"/>
          </a:solidFill>
          <a:ln w="12700">
            <a:solidFill>
              <a:srgbClr val="0B4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85F718-4E31-D7A0-2C21-1BF83ED5C510}"/>
              </a:ext>
            </a:extLst>
          </p:cNvPr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5B44B"/>
          </a:solidFill>
          <a:ln w="12700">
            <a:solidFill>
              <a:srgbClr val="D5B4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FA4E634-91E6-1174-8665-ABC6F700275E}"/>
              </a:ext>
            </a:extLst>
          </p:cNvPr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notícias • Verdão Web</a:t>
            </a:r>
            <a:endParaRPr lang="en-US" sz="8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7675BF5-8AB8-C519-5066-7D57131B02F6}"/>
              </a:ext>
            </a:extLst>
          </p:cNvPr>
          <p:cNvSpPr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780274C-3F2D-A044-BA7F-B58223CD4EA9}"/>
              </a:ext>
            </a:extLst>
          </p:cNvPr>
          <p:cNvSpPr/>
          <p:nvPr/>
        </p:nvSpPr>
        <p:spPr>
          <a:xfrm>
            <a:off x="685800" y="347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3784D"/>
                </a:solidFill>
              </a:rPr>
              <a:t>ANÁLISE</a:t>
            </a:r>
            <a:endParaRPr lang="en-US" sz="8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A56628A-86C9-FE48-8048-AF9490F2C43F}"/>
              </a:ext>
            </a:extLst>
          </p:cNvPr>
          <p:cNvSpPr/>
          <p:nvPr/>
        </p:nvSpPr>
        <p:spPr>
          <a:xfrm>
            <a:off x="685799" y="658368"/>
            <a:ext cx="84188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13A2A"/>
                </a:solidFill>
              </a:rPr>
              <a:t>Quantidade</a:t>
            </a:r>
            <a:r>
              <a:rPr lang="en-US" sz="3000" b="1" dirty="0">
                <a:solidFill>
                  <a:srgbClr val="113A2A"/>
                </a:solidFill>
              </a:rPr>
              <a:t> de </a:t>
            </a:r>
            <a:r>
              <a:rPr lang="en-US" sz="3000" b="1" dirty="0" err="1">
                <a:solidFill>
                  <a:srgbClr val="113A2A"/>
                </a:solidFill>
              </a:rPr>
              <a:t>notícias</a:t>
            </a:r>
            <a:r>
              <a:rPr lang="en-US" sz="3000" b="1" dirty="0">
                <a:solidFill>
                  <a:srgbClr val="113A2A"/>
                </a:solidFill>
              </a:rPr>
              <a:t> </a:t>
            </a:r>
            <a:r>
              <a:rPr lang="en-US" sz="3000" b="1" dirty="0" err="1">
                <a:solidFill>
                  <a:srgbClr val="113A2A"/>
                </a:solidFill>
              </a:rPr>
              <a:t>publicadas</a:t>
            </a:r>
            <a:r>
              <a:rPr lang="en-US" sz="3000" b="1" dirty="0">
                <a:solidFill>
                  <a:srgbClr val="113A2A"/>
                </a:solidFill>
              </a:rPr>
              <a:t> </a:t>
            </a:r>
            <a:r>
              <a:rPr lang="en-US" sz="3000" b="1" dirty="0" err="1">
                <a:solidFill>
                  <a:srgbClr val="113A2A"/>
                </a:solidFill>
              </a:rPr>
              <a:t>por</a:t>
            </a:r>
            <a:r>
              <a:rPr lang="en-US" sz="3000" b="1" dirty="0">
                <a:solidFill>
                  <a:srgbClr val="113A2A"/>
                </a:solidFill>
              </a:rPr>
              <a:t> </a:t>
            </a:r>
            <a:r>
              <a:rPr lang="en-US" sz="3000" b="1" dirty="0" err="1">
                <a:solidFill>
                  <a:srgbClr val="113A2A"/>
                </a:solidFill>
              </a:rPr>
              <a:t>dia</a:t>
            </a:r>
            <a:r>
              <a:rPr lang="en-US" sz="3000" b="1" dirty="0">
                <a:solidFill>
                  <a:srgbClr val="113A2A"/>
                </a:solidFill>
              </a:rPr>
              <a:t> da </a:t>
            </a:r>
            <a:r>
              <a:rPr lang="en-US" sz="3000" b="1" dirty="0" err="1">
                <a:solidFill>
                  <a:srgbClr val="113A2A"/>
                </a:solidFill>
              </a:rPr>
              <a:t>semana</a:t>
            </a:r>
            <a:endParaRPr lang="en-US" sz="3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7877AA2-A1EA-76D0-5446-C85659717571}"/>
              </a:ext>
            </a:extLst>
          </p:cNvPr>
          <p:cNvSpPr/>
          <p:nvPr/>
        </p:nvSpPr>
        <p:spPr>
          <a:xfrm>
            <a:off x="685800" y="1243584"/>
            <a:ext cx="914400" cy="0"/>
          </a:xfrm>
          <a:prstGeom prst="line">
            <a:avLst/>
          </a:prstGeom>
          <a:noFill/>
          <a:ln w="25400">
            <a:solidFill>
              <a:srgbClr val="D5B4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FA40938-F003-F17A-7AEF-D55EC9951250}"/>
              </a:ext>
            </a:extLst>
          </p:cNvPr>
          <p:cNvSpPr/>
          <p:nvPr/>
        </p:nvSpPr>
        <p:spPr>
          <a:xfrm>
            <a:off x="685800" y="2005288"/>
            <a:ext cx="4407408" cy="32554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endParaRPr lang="en-US" sz="17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9133423-1E7A-B9EE-185F-C84DD8A85F30}"/>
              </a:ext>
            </a:extLst>
          </p:cNvPr>
          <p:cNvSpPr/>
          <p:nvPr/>
        </p:nvSpPr>
        <p:spPr>
          <a:xfrm>
            <a:off x="502920" y="1417320"/>
            <a:ext cx="11433048" cy="4709160"/>
          </a:xfrm>
          <a:prstGeom prst="roundRect">
            <a:avLst>
              <a:gd name="adj" fmla="val 155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1378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04D3486D-60E2-964C-CC54-3D8CCFE9D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615" y="1481328"/>
            <a:ext cx="8640540" cy="444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213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C3352-D4F4-552E-6225-91CAAF511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DEF07B0-4CF0-A5F6-CEF6-44093DFC32EE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2F"/>
          </a:solidFill>
          <a:ln w="12700">
            <a:solidFill>
              <a:srgbClr val="0B4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0EC8180-1896-3CFE-4CBC-A5160896956B}"/>
              </a:ext>
            </a:extLst>
          </p:cNvPr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5B44B"/>
          </a:solidFill>
          <a:ln w="12700">
            <a:solidFill>
              <a:srgbClr val="D5B4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A893299-296F-7B38-68E5-9CBBEE86156E}"/>
              </a:ext>
            </a:extLst>
          </p:cNvPr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notícias • Verdão Web</a:t>
            </a:r>
            <a:endParaRPr lang="en-US" sz="8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EB0E4F4-5500-5439-F12D-D18BCFBFBD4D}"/>
              </a:ext>
            </a:extLst>
          </p:cNvPr>
          <p:cNvSpPr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D9D4605-74B1-A098-0002-F8E14412570D}"/>
              </a:ext>
            </a:extLst>
          </p:cNvPr>
          <p:cNvSpPr/>
          <p:nvPr/>
        </p:nvSpPr>
        <p:spPr>
          <a:xfrm>
            <a:off x="685800" y="347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3784D"/>
                </a:solidFill>
              </a:rPr>
              <a:t>ANÁLISE</a:t>
            </a:r>
            <a:endParaRPr lang="en-US" sz="8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5A2ACB3-062E-3B53-DD7E-D8C4DC973A14}"/>
              </a:ext>
            </a:extLst>
          </p:cNvPr>
          <p:cNvSpPr/>
          <p:nvPr/>
        </p:nvSpPr>
        <p:spPr>
          <a:xfrm>
            <a:off x="685799" y="658368"/>
            <a:ext cx="84188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13A2A"/>
                </a:solidFill>
              </a:rPr>
              <a:t>Média</a:t>
            </a:r>
            <a:r>
              <a:rPr lang="en-US" sz="3000" b="1" dirty="0">
                <a:solidFill>
                  <a:srgbClr val="113A2A"/>
                </a:solidFill>
              </a:rPr>
              <a:t> de visitas </a:t>
            </a:r>
            <a:r>
              <a:rPr lang="en-US" sz="3000" b="1" dirty="0" err="1">
                <a:solidFill>
                  <a:srgbClr val="113A2A"/>
                </a:solidFill>
              </a:rPr>
              <a:t>por</a:t>
            </a:r>
            <a:r>
              <a:rPr lang="en-US" sz="3000" b="1" dirty="0">
                <a:solidFill>
                  <a:srgbClr val="113A2A"/>
                </a:solidFill>
              </a:rPr>
              <a:t> </a:t>
            </a:r>
            <a:r>
              <a:rPr lang="en-US" sz="3000" b="1" dirty="0" err="1">
                <a:solidFill>
                  <a:srgbClr val="113A2A"/>
                </a:solidFill>
              </a:rPr>
              <a:t>dia</a:t>
            </a:r>
            <a:r>
              <a:rPr lang="en-US" sz="3000" b="1" dirty="0">
                <a:solidFill>
                  <a:srgbClr val="113A2A"/>
                </a:solidFill>
              </a:rPr>
              <a:t> da </a:t>
            </a:r>
            <a:r>
              <a:rPr lang="en-US" sz="3000" b="1" dirty="0" err="1">
                <a:solidFill>
                  <a:srgbClr val="113A2A"/>
                </a:solidFill>
              </a:rPr>
              <a:t>semana</a:t>
            </a:r>
            <a:endParaRPr lang="en-US" sz="3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03A5AF2-8EE4-B27B-B4BC-8BEBF491946B}"/>
              </a:ext>
            </a:extLst>
          </p:cNvPr>
          <p:cNvSpPr/>
          <p:nvPr/>
        </p:nvSpPr>
        <p:spPr>
          <a:xfrm>
            <a:off x="685800" y="1243584"/>
            <a:ext cx="914400" cy="0"/>
          </a:xfrm>
          <a:prstGeom prst="line">
            <a:avLst/>
          </a:prstGeom>
          <a:noFill/>
          <a:ln w="25400">
            <a:solidFill>
              <a:srgbClr val="D5B4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3B32494-78A7-A073-769E-3A1D8E1311AF}"/>
              </a:ext>
            </a:extLst>
          </p:cNvPr>
          <p:cNvSpPr/>
          <p:nvPr/>
        </p:nvSpPr>
        <p:spPr>
          <a:xfrm>
            <a:off x="685800" y="2005288"/>
            <a:ext cx="4407408" cy="32554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endParaRPr lang="en-US" sz="17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68E8FBF-0C9C-3E6F-8826-B8BFFDFC640C}"/>
              </a:ext>
            </a:extLst>
          </p:cNvPr>
          <p:cNvSpPr/>
          <p:nvPr/>
        </p:nvSpPr>
        <p:spPr>
          <a:xfrm>
            <a:off x="502920" y="1417320"/>
            <a:ext cx="11433048" cy="4709160"/>
          </a:xfrm>
          <a:prstGeom prst="roundRect">
            <a:avLst>
              <a:gd name="adj" fmla="val 155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1378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4FF2A7B1-8271-5ED5-FF97-5370E8565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416" y="1481328"/>
            <a:ext cx="8654845" cy="445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500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2EE11-35F5-E69D-5B06-65814069D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A8635267-86B9-EB76-85B2-485093712678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2F"/>
          </a:solidFill>
          <a:ln w="12700">
            <a:solidFill>
              <a:srgbClr val="0B4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8905FAF-A8DD-A606-A5F5-89AD45123EEA}"/>
              </a:ext>
            </a:extLst>
          </p:cNvPr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5B44B"/>
          </a:solidFill>
          <a:ln w="12700">
            <a:solidFill>
              <a:srgbClr val="D5B4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77B6C1D-DF2D-7950-6798-4B0D69461E7D}"/>
              </a:ext>
            </a:extLst>
          </p:cNvPr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notícias • Verdão Web</a:t>
            </a:r>
            <a:endParaRPr lang="en-US" sz="8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5090E3-37C9-4EB1-6CDA-0556454F1BDF}"/>
              </a:ext>
            </a:extLst>
          </p:cNvPr>
          <p:cNvSpPr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5C55F87-365C-7EF7-8E1A-8DE11BE8975D}"/>
              </a:ext>
            </a:extLst>
          </p:cNvPr>
          <p:cNvSpPr/>
          <p:nvPr/>
        </p:nvSpPr>
        <p:spPr>
          <a:xfrm>
            <a:off x="685800" y="347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3784D"/>
                </a:solidFill>
              </a:rPr>
              <a:t>ANÁLISE</a:t>
            </a:r>
            <a:endParaRPr lang="en-US" sz="8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CAF51A8-DC53-802A-6384-039D8E356C7A}"/>
              </a:ext>
            </a:extLst>
          </p:cNvPr>
          <p:cNvSpPr/>
          <p:nvPr/>
        </p:nvSpPr>
        <p:spPr>
          <a:xfrm>
            <a:off x="685799" y="658368"/>
            <a:ext cx="84188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13A2A"/>
                </a:solidFill>
              </a:rPr>
              <a:t>Quantidade</a:t>
            </a:r>
            <a:r>
              <a:rPr lang="en-US" sz="3000" b="1" dirty="0">
                <a:solidFill>
                  <a:srgbClr val="113A2A"/>
                </a:solidFill>
              </a:rPr>
              <a:t> de </a:t>
            </a:r>
            <a:r>
              <a:rPr lang="en-US" sz="3000" b="1" dirty="0" err="1">
                <a:solidFill>
                  <a:srgbClr val="113A2A"/>
                </a:solidFill>
              </a:rPr>
              <a:t>notícias</a:t>
            </a:r>
            <a:r>
              <a:rPr lang="en-US" sz="3000" b="1" dirty="0">
                <a:solidFill>
                  <a:srgbClr val="113A2A"/>
                </a:solidFill>
              </a:rPr>
              <a:t> </a:t>
            </a:r>
            <a:r>
              <a:rPr lang="en-US" sz="3000" b="1" dirty="0" err="1">
                <a:solidFill>
                  <a:srgbClr val="113A2A"/>
                </a:solidFill>
              </a:rPr>
              <a:t>publicadas</a:t>
            </a:r>
            <a:r>
              <a:rPr lang="en-US" sz="3000" b="1" dirty="0">
                <a:solidFill>
                  <a:srgbClr val="113A2A"/>
                </a:solidFill>
              </a:rPr>
              <a:t> </a:t>
            </a:r>
            <a:r>
              <a:rPr lang="en-US" sz="3000" b="1" dirty="0" err="1">
                <a:solidFill>
                  <a:srgbClr val="113A2A"/>
                </a:solidFill>
              </a:rPr>
              <a:t>por</a:t>
            </a:r>
            <a:r>
              <a:rPr lang="en-US" sz="3000" b="1" dirty="0">
                <a:solidFill>
                  <a:srgbClr val="113A2A"/>
                </a:solidFill>
              </a:rPr>
              <a:t> hora</a:t>
            </a:r>
            <a:endParaRPr lang="en-US" sz="3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95CD02F-74FA-8416-6A3E-C1D01C61A244}"/>
              </a:ext>
            </a:extLst>
          </p:cNvPr>
          <p:cNvSpPr/>
          <p:nvPr/>
        </p:nvSpPr>
        <p:spPr>
          <a:xfrm>
            <a:off x="685800" y="1243584"/>
            <a:ext cx="914400" cy="0"/>
          </a:xfrm>
          <a:prstGeom prst="line">
            <a:avLst/>
          </a:prstGeom>
          <a:noFill/>
          <a:ln w="25400">
            <a:solidFill>
              <a:srgbClr val="D5B4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C7A4503-EAF1-B01A-73A7-BB0E44FDB013}"/>
              </a:ext>
            </a:extLst>
          </p:cNvPr>
          <p:cNvSpPr/>
          <p:nvPr/>
        </p:nvSpPr>
        <p:spPr>
          <a:xfrm>
            <a:off x="685800" y="2005288"/>
            <a:ext cx="4407408" cy="32554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endParaRPr lang="en-US" sz="17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26E93F8-814A-164A-907D-60BD147ABEE4}"/>
              </a:ext>
            </a:extLst>
          </p:cNvPr>
          <p:cNvSpPr/>
          <p:nvPr/>
        </p:nvSpPr>
        <p:spPr>
          <a:xfrm>
            <a:off x="502920" y="1417320"/>
            <a:ext cx="11433048" cy="4709160"/>
          </a:xfrm>
          <a:prstGeom prst="roundRect">
            <a:avLst>
              <a:gd name="adj" fmla="val 155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1378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7A61490-E880-79F5-F7BB-1C96CAD43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980" y="1563625"/>
            <a:ext cx="8861792" cy="446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557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sports_stadium_interior_scene._o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488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3. Análise textual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77240" y="3063240"/>
            <a:ext cx="1417320" cy="0"/>
          </a:xfrm>
          <a:prstGeom prst="line">
            <a:avLst/>
          </a:prstGeom>
          <a:noFill/>
          <a:ln w="38100">
            <a:solidFill>
              <a:srgbClr val="D5B4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77240" y="33375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8F4EC"/>
                </a:solidFill>
              </a:rPr>
              <a:t>Frequência de termos, nuvem de palavras e TF-IDF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89171-1721-029F-CC2F-276800C86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A93F00D-5A6C-9114-75CB-47CB177EAD70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2F"/>
          </a:solidFill>
          <a:ln w="12700">
            <a:solidFill>
              <a:srgbClr val="0B4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E805ACA-12DC-8D64-F860-11A42EB1DD92}"/>
              </a:ext>
            </a:extLst>
          </p:cNvPr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5B44B"/>
          </a:solidFill>
          <a:ln w="12700">
            <a:solidFill>
              <a:srgbClr val="D5B4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C2096A0-92B7-F362-32B5-1FD242543160}"/>
              </a:ext>
            </a:extLst>
          </p:cNvPr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notícias • Verdão Web</a:t>
            </a:r>
            <a:endParaRPr lang="en-US" sz="8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BFA509E-AB6D-53E0-15F9-D869B1D97620}"/>
              </a:ext>
            </a:extLst>
          </p:cNvPr>
          <p:cNvSpPr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F386DFC-44BD-3A23-665E-A11CFE52400D}"/>
              </a:ext>
            </a:extLst>
          </p:cNvPr>
          <p:cNvSpPr/>
          <p:nvPr/>
        </p:nvSpPr>
        <p:spPr>
          <a:xfrm>
            <a:off x="685800" y="347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3784D"/>
                </a:solidFill>
              </a:rPr>
              <a:t>ANÁLISE</a:t>
            </a:r>
            <a:endParaRPr lang="en-US" sz="8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A8DAE88-B973-F8FB-3133-EEEB7EED7E80}"/>
              </a:ext>
            </a:extLst>
          </p:cNvPr>
          <p:cNvSpPr/>
          <p:nvPr/>
        </p:nvSpPr>
        <p:spPr>
          <a:xfrm>
            <a:off x="685799" y="475488"/>
            <a:ext cx="84188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13A2A"/>
                </a:solidFill>
              </a:rPr>
              <a:t>Nuvem</a:t>
            </a:r>
            <a:r>
              <a:rPr lang="en-US" sz="3000" b="1" dirty="0">
                <a:solidFill>
                  <a:srgbClr val="113A2A"/>
                </a:solidFill>
              </a:rPr>
              <a:t> de </a:t>
            </a:r>
            <a:r>
              <a:rPr lang="en-US" sz="3000" b="1" dirty="0" err="1">
                <a:solidFill>
                  <a:srgbClr val="113A2A"/>
                </a:solidFill>
              </a:rPr>
              <a:t>palavras</a:t>
            </a:r>
            <a:endParaRPr lang="en-US" sz="3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6022168-09FB-6358-3C8D-F39DAB0AB4EA}"/>
              </a:ext>
            </a:extLst>
          </p:cNvPr>
          <p:cNvSpPr/>
          <p:nvPr/>
        </p:nvSpPr>
        <p:spPr>
          <a:xfrm>
            <a:off x="685800" y="2005288"/>
            <a:ext cx="4407408" cy="32554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endParaRPr lang="en-US" sz="17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71A116B-72BE-2CDF-D67F-1F913CAB72D1}"/>
              </a:ext>
            </a:extLst>
          </p:cNvPr>
          <p:cNvSpPr/>
          <p:nvPr/>
        </p:nvSpPr>
        <p:spPr>
          <a:xfrm>
            <a:off x="865730" y="1010412"/>
            <a:ext cx="10823350" cy="5751576"/>
          </a:xfrm>
          <a:prstGeom prst="roundRect">
            <a:avLst>
              <a:gd name="adj" fmla="val 155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1378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3AA9E18C-E4C9-72D6-A4F7-18322BF15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748" y="1106424"/>
            <a:ext cx="8973313" cy="555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813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48BEA-6117-5037-1D69-893842A0C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B0EB3EA-8BF6-83E4-6D4A-016C76D39E68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2F"/>
          </a:solidFill>
          <a:ln w="12700">
            <a:solidFill>
              <a:srgbClr val="0B4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BA54DE9-3BEF-A6B4-2F6F-E2DEDC0E67C1}"/>
              </a:ext>
            </a:extLst>
          </p:cNvPr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5B44B"/>
          </a:solidFill>
          <a:ln w="12700">
            <a:solidFill>
              <a:srgbClr val="D5B4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1BC3C2-7A79-CA8F-C82C-92E354F9DAF2}"/>
              </a:ext>
            </a:extLst>
          </p:cNvPr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notícias • Verdão Web</a:t>
            </a:r>
            <a:endParaRPr lang="en-US" sz="8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AF4C328-2C19-FDA9-709C-E2B5BCB8A71F}"/>
              </a:ext>
            </a:extLst>
          </p:cNvPr>
          <p:cNvSpPr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8FBE936-BBE3-4BA5-E599-F7ECEDD9E218}"/>
              </a:ext>
            </a:extLst>
          </p:cNvPr>
          <p:cNvSpPr/>
          <p:nvPr/>
        </p:nvSpPr>
        <p:spPr>
          <a:xfrm>
            <a:off x="685800" y="347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3784D"/>
                </a:solidFill>
              </a:rPr>
              <a:t>ANÁLISE</a:t>
            </a:r>
            <a:endParaRPr lang="en-US" sz="8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4A0EA34-B114-3E1D-4FEE-26A79ACBADA9}"/>
              </a:ext>
            </a:extLst>
          </p:cNvPr>
          <p:cNvSpPr/>
          <p:nvPr/>
        </p:nvSpPr>
        <p:spPr>
          <a:xfrm>
            <a:off x="1295252" y="475488"/>
            <a:ext cx="84188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3A2A"/>
                </a:solidFill>
              </a:rPr>
              <a:t>20 </a:t>
            </a:r>
            <a:r>
              <a:rPr lang="en-US" sz="3000" b="1" dirty="0" err="1">
                <a:solidFill>
                  <a:srgbClr val="113A2A"/>
                </a:solidFill>
              </a:rPr>
              <a:t>palavras</a:t>
            </a:r>
            <a:r>
              <a:rPr lang="en-US" sz="3000" b="1" dirty="0">
                <a:solidFill>
                  <a:srgbClr val="113A2A"/>
                </a:solidFill>
              </a:rPr>
              <a:t> </a:t>
            </a:r>
            <a:r>
              <a:rPr lang="en-US" sz="3000" b="1" dirty="0" err="1">
                <a:solidFill>
                  <a:srgbClr val="113A2A"/>
                </a:solidFill>
              </a:rPr>
              <a:t>mais</a:t>
            </a:r>
            <a:r>
              <a:rPr lang="en-US" sz="3000" b="1" dirty="0">
                <a:solidFill>
                  <a:srgbClr val="113A2A"/>
                </a:solidFill>
              </a:rPr>
              <a:t> </a:t>
            </a:r>
            <a:r>
              <a:rPr lang="en-US" sz="3000" b="1" dirty="0" err="1">
                <a:solidFill>
                  <a:srgbClr val="113A2A"/>
                </a:solidFill>
              </a:rPr>
              <a:t>frequentes</a:t>
            </a:r>
            <a:endParaRPr lang="en-US" sz="3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7240C94-A4B5-0BC9-6F45-115F86BD8B12}"/>
              </a:ext>
            </a:extLst>
          </p:cNvPr>
          <p:cNvSpPr/>
          <p:nvPr/>
        </p:nvSpPr>
        <p:spPr>
          <a:xfrm>
            <a:off x="685800" y="2005288"/>
            <a:ext cx="4407408" cy="32554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endParaRPr lang="en-US" sz="17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778FB40-471C-E55C-7EAC-74DE23BCA45B}"/>
              </a:ext>
            </a:extLst>
          </p:cNvPr>
          <p:cNvSpPr/>
          <p:nvPr/>
        </p:nvSpPr>
        <p:spPr>
          <a:xfrm>
            <a:off x="865730" y="1010412"/>
            <a:ext cx="10823350" cy="5372100"/>
          </a:xfrm>
          <a:prstGeom prst="roundRect">
            <a:avLst>
              <a:gd name="adj" fmla="val 155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1378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BF847DC-93C4-691C-D705-A2595785F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529" y="1106424"/>
            <a:ext cx="10221751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896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2CC89-7B3D-13CA-8345-628B9A002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9AB273D6-DC66-8FB2-07E6-62D118B3FC4B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2F"/>
          </a:solidFill>
          <a:ln w="12700">
            <a:solidFill>
              <a:srgbClr val="0B4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5EA709B-7BAD-72A2-A537-E725C6CCDEE3}"/>
              </a:ext>
            </a:extLst>
          </p:cNvPr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5B44B"/>
          </a:solidFill>
          <a:ln w="12700">
            <a:solidFill>
              <a:srgbClr val="D5B4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240AEEE-E002-E49A-EA63-D4ADFF9EEED1}"/>
              </a:ext>
            </a:extLst>
          </p:cNvPr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notícias • Verdão Web</a:t>
            </a:r>
            <a:endParaRPr lang="en-US" sz="8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508D4F9-2D8A-1BEE-D725-29327CC50380}"/>
              </a:ext>
            </a:extLst>
          </p:cNvPr>
          <p:cNvSpPr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69AC696-DD8E-3641-FA1C-C6CC6630FCBA}"/>
              </a:ext>
            </a:extLst>
          </p:cNvPr>
          <p:cNvSpPr/>
          <p:nvPr/>
        </p:nvSpPr>
        <p:spPr>
          <a:xfrm>
            <a:off x="685800" y="347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3784D"/>
                </a:solidFill>
              </a:rPr>
              <a:t>ANÁLISE</a:t>
            </a:r>
            <a:endParaRPr lang="en-US" sz="8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1CD0570-89AF-91A7-D5EE-10BEA616B5CB}"/>
              </a:ext>
            </a:extLst>
          </p:cNvPr>
          <p:cNvSpPr/>
          <p:nvPr/>
        </p:nvSpPr>
        <p:spPr>
          <a:xfrm>
            <a:off x="1295252" y="475488"/>
            <a:ext cx="84188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3A2A"/>
                </a:solidFill>
              </a:rPr>
              <a:t>20 </a:t>
            </a:r>
            <a:r>
              <a:rPr lang="en-US" sz="3000" b="1" dirty="0" err="1">
                <a:solidFill>
                  <a:srgbClr val="113A2A"/>
                </a:solidFill>
              </a:rPr>
              <a:t>palavras</a:t>
            </a:r>
            <a:r>
              <a:rPr lang="en-US" sz="3000" b="1" dirty="0">
                <a:solidFill>
                  <a:srgbClr val="113A2A"/>
                </a:solidFill>
              </a:rPr>
              <a:t> </a:t>
            </a:r>
            <a:r>
              <a:rPr lang="en-US" sz="3000" b="1" dirty="0" err="1">
                <a:solidFill>
                  <a:srgbClr val="113A2A"/>
                </a:solidFill>
              </a:rPr>
              <a:t>mais</a:t>
            </a:r>
            <a:r>
              <a:rPr lang="en-US" sz="3000" b="1" dirty="0">
                <a:solidFill>
                  <a:srgbClr val="113A2A"/>
                </a:solidFill>
              </a:rPr>
              <a:t> </a:t>
            </a:r>
            <a:r>
              <a:rPr lang="en-US" sz="3000" b="1" dirty="0" err="1">
                <a:solidFill>
                  <a:srgbClr val="113A2A"/>
                </a:solidFill>
              </a:rPr>
              <a:t>frequentes</a:t>
            </a:r>
            <a:endParaRPr lang="en-US" sz="3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891EA3F-9809-4526-D67F-44C0F26843CD}"/>
              </a:ext>
            </a:extLst>
          </p:cNvPr>
          <p:cNvSpPr/>
          <p:nvPr/>
        </p:nvSpPr>
        <p:spPr>
          <a:xfrm>
            <a:off x="685800" y="2005288"/>
            <a:ext cx="4407408" cy="32554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endParaRPr lang="en-US" sz="17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8331758-37AD-0804-D450-7D3615AA5FFE}"/>
              </a:ext>
            </a:extLst>
          </p:cNvPr>
          <p:cNvSpPr/>
          <p:nvPr/>
        </p:nvSpPr>
        <p:spPr>
          <a:xfrm>
            <a:off x="865730" y="1010412"/>
            <a:ext cx="10823350" cy="5372100"/>
          </a:xfrm>
          <a:prstGeom prst="roundRect">
            <a:avLst>
              <a:gd name="adj" fmla="val 155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1378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3543769-18CC-19DE-E694-F9BEE64E8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529" y="1095774"/>
            <a:ext cx="10221751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514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2C6A8-0A9D-5470-CEF8-CF6F1285E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84A33B-319C-3C3D-603E-032D1192798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8"/>
          </a:solidFill>
          <a:ln w="12700">
            <a:solidFill>
              <a:srgbClr val="F7F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AC31842-B5B9-9125-211E-3CD34C128BBE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2F"/>
          </a:solidFill>
          <a:ln w="12700">
            <a:solidFill>
              <a:srgbClr val="0B4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857AC33-92D1-42D5-EDBD-3FB1728D4E73}"/>
              </a:ext>
            </a:extLst>
          </p:cNvPr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5B44B"/>
          </a:solidFill>
          <a:ln w="12700">
            <a:solidFill>
              <a:srgbClr val="D5B4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F34B14-971C-12E7-5105-107FE9F2D67F}"/>
              </a:ext>
            </a:extLst>
          </p:cNvPr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notícias • Verdão Web</a:t>
            </a:r>
            <a:endParaRPr lang="en-US" sz="8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08A912C-7471-4F07-C135-43E0E4448DC3}"/>
              </a:ext>
            </a:extLst>
          </p:cNvPr>
          <p:cNvSpPr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C5BDCA6-7230-BFBA-C152-A36F6B49B226}"/>
              </a:ext>
            </a:extLst>
          </p:cNvPr>
          <p:cNvSpPr/>
          <p:nvPr/>
        </p:nvSpPr>
        <p:spPr>
          <a:xfrm>
            <a:off x="685800" y="347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3784D"/>
                </a:solidFill>
              </a:rPr>
              <a:t>ANÁLISE</a:t>
            </a:r>
            <a:endParaRPr lang="en-US" sz="8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EA5F6D6-ADD7-7620-4C2C-819B19D0EC1E}"/>
              </a:ext>
            </a:extLst>
          </p:cNvPr>
          <p:cNvSpPr/>
          <p:nvPr/>
        </p:nvSpPr>
        <p:spPr>
          <a:xfrm>
            <a:off x="685800" y="86130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l">
              <a:spcBef>
                <a:spcPts val="1089"/>
              </a:spcBef>
              <a:spcAft>
                <a:spcPts val="1451"/>
              </a:spcAft>
              <a:buNone/>
            </a:pPr>
            <a:r>
              <a:rPr lang="pt-BR" sz="3200" b="0" i="0" dirty="0">
                <a:effectLst/>
                <a:latin typeface="system-ui"/>
              </a:rPr>
              <a:t>Notícias de alta audiência</a:t>
            </a:r>
          </a:p>
          <a:p>
            <a:pPr marL="0" indent="0">
              <a:buNone/>
            </a:pPr>
            <a:endParaRPr lang="en-US" sz="3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DDFF3FD-D6CE-FA09-F6C9-907E03A6D17B}"/>
              </a:ext>
            </a:extLst>
          </p:cNvPr>
          <p:cNvSpPr/>
          <p:nvPr/>
        </p:nvSpPr>
        <p:spPr>
          <a:xfrm>
            <a:off x="685800" y="1243584"/>
            <a:ext cx="914400" cy="0"/>
          </a:xfrm>
          <a:prstGeom prst="line">
            <a:avLst/>
          </a:prstGeom>
          <a:noFill/>
          <a:ln w="25400">
            <a:solidFill>
              <a:srgbClr val="D5B4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43C12A3-D6CF-AC28-0F64-FB705B014410}"/>
              </a:ext>
            </a:extLst>
          </p:cNvPr>
          <p:cNvSpPr/>
          <p:nvPr/>
        </p:nvSpPr>
        <p:spPr>
          <a:xfrm>
            <a:off x="713232" y="1554480"/>
            <a:ext cx="4681728" cy="4572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pt-BR" dirty="0"/>
              <a:t>Para facilitar a análise, vamos criar uma variável chamada </a:t>
            </a:r>
            <a:r>
              <a:rPr lang="pt-BR" b="1" dirty="0" err="1"/>
              <a:t>alta_audiencia</a:t>
            </a:r>
            <a:r>
              <a:rPr lang="pt-BR" b="1" dirty="0"/>
              <a:t>.</a:t>
            </a:r>
          </a:p>
          <a:p>
            <a:endParaRPr lang="pt-BR" dirty="0"/>
          </a:p>
          <a:p>
            <a:r>
              <a:rPr lang="pt-BR" dirty="0"/>
              <a:t>Neste notebook, uma notícia será considerada de alta audiência quando estiver entre as 30% notícias com mais visitas. Ou seja, usamos o percentil 70 como corte.</a:t>
            </a:r>
          </a:p>
          <a:p>
            <a:endParaRPr lang="pt-BR" dirty="0"/>
          </a:p>
          <a:p>
            <a:r>
              <a:rPr lang="pt-BR" dirty="0"/>
              <a:t>Isso permite transformar o problema em uma classificação simples:</a:t>
            </a:r>
          </a:p>
          <a:p>
            <a:r>
              <a:rPr lang="pt-BR" dirty="0"/>
              <a:t>1: notícia de alta audiência;</a:t>
            </a:r>
          </a:p>
          <a:p>
            <a:r>
              <a:rPr lang="pt-BR" dirty="0"/>
              <a:t>0: demais notícias.</a:t>
            </a:r>
          </a:p>
          <a:p>
            <a:endParaRPr lang="en-US" sz="17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F0EFBA0-6E2C-45A9-AA5B-22702419ED8F}"/>
              </a:ext>
            </a:extLst>
          </p:cNvPr>
          <p:cNvSpPr/>
          <p:nvPr/>
        </p:nvSpPr>
        <p:spPr>
          <a:xfrm>
            <a:off x="5623560" y="1417320"/>
            <a:ext cx="5897880" cy="4709160"/>
          </a:xfrm>
          <a:prstGeom prst="roundRect">
            <a:avLst>
              <a:gd name="adj" fmla="val 155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1378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CA92426-87C9-D783-798C-122DDC8A073F}"/>
              </a:ext>
            </a:extLst>
          </p:cNvPr>
          <p:cNvSpPr/>
          <p:nvPr/>
        </p:nvSpPr>
        <p:spPr>
          <a:xfrm>
            <a:off x="5852160" y="1618488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0B4F2F"/>
                </a:solidFill>
              </a:rPr>
              <a:t>Gráfico</a:t>
            </a:r>
            <a:r>
              <a:rPr lang="en-US" sz="1600" b="1" dirty="0">
                <a:solidFill>
                  <a:srgbClr val="0B4F2F"/>
                </a:solidFill>
              </a:rPr>
              <a:t> de </a:t>
            </a:r>
            <a:r>
              <a:rPr lang="en-US" sz="1600" b="1" dirty="0" err="1">
                <a:solidFill>
                  <a:srgbClr val="0B4F2F"/>
                </a:solidFill>
              </a:rPr>
              <a:t>distribuição</a:t>
            </a:r>
            <a:r>
              <a:rPr lang="en-US" sz="1600" b="1" dirty="0">
                <a:solidFill>
                  <a:srgbClr val="0B4F2F"/>
                </a:solidFill>
              </a:rPr>
              <a:t> da </a:t>
            </a:r>
            <a:r>
              <a:rPr lang="en-US" sz="1600" b="1" dirty="0" err="1">
                <a:solidFill>
                  <a:srgbClr val="0B4F2F"/>
                </a:solidFill>
              </a:rPr>
              <a:t>variável</a:t>
            </a:r>
            <a:r>
              <a:rPr lang="en-US" sz="1600" b="1" dirty="0">
                <a:solidFill>
                  <a:srgbClr val="0B4F2F"/>
                </a:solidFill>
              </a:rPr>
              <a:t> </a:t>
            </a:r>
            <a:r>
              <a:rPr lang="en-US" sz="1600" b="1" dirty="0" err="1">
                <a:solidFill>
                  <a:srgbClr val="0B4F2F"/>
                </a:solidFill>
              </a:rPr>
              <a:t>alta_audiência</a:t>
            </a:r>
            <a:r>
              <a:rPr lang="en-US" sz="1600" b="1" dirty="0">
                <a:solidFill>
                  <a:srgbClr val="0B4F2F"/>
                </a:solidFill>
              </a:rPr>
              <a:t>  </a:t>
            </a:r>
            <a:endParaRPr lang="en-US" sz="16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1A6C38B0-E5DB-A9A4-D1BA-FA1E6E946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732" y="2167128"/>
            <a:ext cx="4992881" cy="395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003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5A9BA-01A2-8240-D0A1-3436E857B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7C1CAD09-2957-BF1F-C8C3-D218BC43DCE0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2F"/>
          </a:solidFill>
          <a:ln w="12700">
            <a:solidFill>
              <a:srgbClr val="0B4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8A2551B-7155-FDE3-9CF2-2EBB7898D3AF}"/>
              </a:ext>
            </a:extLst>
          </p:cNvPr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5B44B"/>
          </a:solidFill>
          <a:ln w="12700">
            <a:solidFill>
              <a:srgbClr val="D5B4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DB3DDE6-37E9-70E2-0E84-3859EF312F17}"/>
              </a:ext>
            </a:extLst>
          </p:cNvPr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notícias • Verdão Web</a:t>
            </a:r>
            <a:endParaRPr lang="en-US" sz="8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A53AC75-1328-DB68-9C66-BC30FA955442}"/>
              </a:ext>
            </a:extLst>
          </p:cNvPr>
          <p:cNvSpPr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4763098-FB48-645D-0480-9829AEAA53ED}"/>
              </a:ext>
            </a:extLst>
          </p:cNvPr>
          <p:cNvSpPr/>
          <p:nvPr/>
        </p:nvSpPr>
        <p:spPr>
          <a:xfrm>
            <a:off x="685800" y="347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3784D"/>
                </a:solidFill>
              </a:rPr>
              <a:t>ANÁLISE</a:t>
            </a:r>
            <a:endParaRPr lang="en-US" sz="8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DDF1140-991C-026E-E0F2-3345C631F27A}"/>
              </a:ext>
            </a:extLst>
          </p:cNvPr>
          <p:cNvSpPr/>
          <p:nvPr/>
        </p:nvSpPr>
        <p:spPr>
          <a:xfrm>
            <a:off x="685800" y="86130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l">
              <a:spcBef>
                <a:spcPts val="1089"/>
              </a:spcBef>
              <a:spcAft>
                <a:spcPts val="1451"/>
              </a:spcAft>
              <a:buNone/>
            </a:pPr>
            <a:r>
              <a:rPr lang="pt-BR" sz="3200" b="0" i="0" dirty="0">
                <a:effectLst/>
                <a:latin typeface="system-ui"/>
              </a:rPr>
              <a:t>Palavras mais associadas às notícias de alta audiência</a:t>
            </a:r>
          </a:p>
          <a:p>
            <a:pPr marL="0" indent="0">
              <a:buNone/>
            </a:pPr>
            <a:endParaRPr lang="en-US" sz="3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7E7F90C-C68C-FA72-769B-BF230DD98182}"/>
              </a:ext>
            </a:extLst>
          </p:cNvPr>
          <p:cNvSpPr/>
          <p:nvPr/>
        </p:nvSpPr>
        <p:spPr>
          <a:xfrm>
            <a:off x="685800" y="1243584"/>
            <a:ext cx="914400" cy="0"/>
          </a:xfrm>
          <a:prstGeom prst="line">
            <a:avLst/>
          </a:prstGeom>
          <a:noFill/>
          <a:ln w="25400">
            <a:solidFill>
              <a:srgbClr val="D5B4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6E17E52-456A-707C-41C3-2AF96BC71637}"/>
              </a:ext>
            </a:extLst>
          </p:cNvPr>
          <p:cNvSpPr txBox="1"/>
          <p:nvPr/>
        </p:nvSpPr>
        <p:spPr>
          <a:xfrm>
            <a:off x="776748" y="1866714"/>
            <a:ext cx="1069897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0" i="0" dirty="0">
                <a:effectLst/>
                <a:latin typeface="system-ui"/>
              </a:rPr>
              <a:t>Nesta etapa, são identificadas as palavras mais associadas às notícias de alta audiência. Para isso, calcula-se a frequência média de cada palavra nas notícias de alta audiência e nas demais notícias. </a:t>
            </a:r>
          </a:p>
          <a:p>
            <a:pPr algn="l">
              <a:buNone/>
            </a:pPr>
            <a:endParaRPr lang="pt-BR" b="0" i="0" dirty="0">
              <a:effectLst/>
              <a:latin typeface="system-ui"/>
            </a:endParaRPr>
          </a:p>
          <a:p>
            <a:pPr algn="l">
              <a:buNone/>
            </a:pPr>
            <a:r>
              <a:rPr lang="pt-BR" b="0" i="0" dirty="0">
                <a:effectLst/>
                <a:latin typeface="system-ui"/>
              </a:rPr>
              <a:t>A diferença entre essas médias indica quais termos aparecem proporcionalmente mais nas notícias com maior número de visitas.</a:t>
            </a:r>
          </a:p>
          <a:p>
            <a:pPr algn="l">
              <a:buNone/>
            </a:pPr>
            <a:endParaRPr lang="pt-BR" b="0" i="0" dirty="0">
              <a:effectLst/>
              <a:latin typeface="system-ui"/>
            </a:endParaRPr>
          </a:p>
          <a:p>
            <a:pPr algn="l">
              <a:buFont typeface="+mj-lt"/>
              <a:buAutoNum type="arabicPeriod"/>
            </a:pPr>
            <a:r>
              <a:rPr lang="pt-BR" b="0" i="0" dirty="0">
                <a:effectLst/>
                <a:latin typeface="system-ui"/>
              </a:rPr>
              <a:t>Separar notícias de alta audiência e baixa audiência.</a:t>
            </a:r>
          </a:p>
          <a:p>
            <a:pPr algn="l">
              <a:buFont typeface="+mj-lt"/>
              <a:buAutoNum type="arabicPeriod"/>
            </a:pPr>
            <a:r>
              <a:rPr lang="pt-BR" b="0" i="0" dirty="0">
                <a:effectLst/>
                <a:latin typeface="system-ui"/>
              </a:rPr>
              <a:t>Somar a frequência das palavras em cada grupo.</a:t>
            </a:r>
          </a:p>
          <a:p>
            <a:pPr algn="l">
              <a:buFont typeface="+mj-lt"/>
              <a:buAutoNum type="arabicPeriod"/>
            </a:pPr>
            <a:r>
              <a:rPr lang="pt-BR" b="0" i="0" dirty="0">
                <a:effectLst/>
                <a:latin typeface="system-ui"/>
              </a:rPr>
              <a:t>Dividir pela quantidade de notícias em cada grupo.</a:t>
            </a:r>
          </a:p>
          <a:p>
            <a:pPr algn="l">
              <a:buFont typeface="+mj-lt"/>
              <a:buAutoNum type="arabicPeriod"/>
            </a:pPr>
            <a:r>
              <a:rPr lang="pt-BR" b="0" i="0" dirty="0">
                <a:effectLst/>
                <a:latin typeface="system-ui"/>
              </a:rPr>
              <a:t>Calcular a diferença entre as médias.</a:t>
            </a:r>
          </a:p>
          <a:p>
            <a:pPr algn="l">
              <a:buFont typeface="+mj-lt"/>
              <a:buAutoNum type="arabicPeriod"/>
            </a:pPr>
            <a:r>
              <a:rPr lang="pt-BR" b="0" i="0" dirty="0">
                <a:effectLst/>
                <a:latin typeface="system-ui"/>
              </a:rPr>
              <a:t>Selecionar as palavras com maior diferença positiva.</a:t>
            </a:r>
          </a:p>
        </p:txBody>
      </p:sp>
    </p:spTree>
    <p:extLst>
      <p:ext uri="{BB962C8B-B14F-4D97-AF65-F5344CB8AC3E}">
        <p14:creationId xmlns:p14="http://schemas.microsoft.com/office/powerpoint/2010/main" val="2269248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4A313-FFAD-CD0F-482E-751E2F376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8CFC209-EF86-F198-2A41-F7A3FA25658C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2F"/>
          </a:solidFill>
          <a:ln w="12700">
            <a:solidFill>
              <a:srgbClr val="0B4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7F141D1-6C54-EA8E-5957-7C04A6E9AA8C}"/>
              </a:ext>
            </a:extLst>
          </p:cNvPr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5B44B"/>
          </a:solidFill>
          <a:ln w="12700">
            <a:solidFill>
              <a:srgbClr val="D5B4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1784B82-C366-1C05-BB0B-29EA3BFC3832}"/>
              </a:ext>
            </a:extLst>
          </p:cNvPr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notícias • Verdão Web</a:t>
            </a:r>
            <a:endParaRPr lang="en-US" sz="8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B31A94F-0C67-1867-844A-2659DFB49789}"/>
              </a:ext>
            </a:extLst>
          </p:cNvPr>
          <p:cNvSpPr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3BA30A8-724E-7C32-72B0-6CAF7937BE89}"/>
              </a:ext>
            </a:extLst>
          </p:cNvPr>
          <p:cNvSpPr/>
          <p:nvPr/>
        </p:nvSpPr>
        <p:spPr>
          <a:xfrm>
            <a:off x="685800" y="347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3784D"/>
                </a:solidFill>
              </a:rPr>
              <a:t>ANÁLISE</a:t>
            </a:r>
            <a:endParaRPr lang="en-US" sz="8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93DD625-4559-253C-BA7F-0BCA514E82A5}"/>
              </a:ext>
            </a:extLst>
          </p:cNvPr>
          <p:cNvSpPr/>
          <p:nvPr/>
        </p:nvSpPr>
        <p:spPr>
          <a:xfrm>
            <a:off x="685800" y="86130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l">
              <a:spcBef>
                <a:spcPts val="1089"/>
              </a:spcBef>
              <a:spcAft>
                <a:spcPts val="1451"/>
              </a:spcAft>
              <a:buNone/>
            </a:pPr>
            <a:r>
              <a:rPr lang="pt-BR" sz="3200" b="0" i="0" dirty="0">
                <a:effectLst/>
                <a:latin typeface="system-ui"/>
              </a:rPr>
              <a:t>Palavras mais associadas às notícias de alta audiência</a:t>
            </a:r>
          </a:p>
          <a:p>
            <a:pPr marL="0" indent="0">
              <a:buNone/>
            </a:pPr>
            <a:endParaRPr lang="en-US" sz="3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C8FA856-D535-974E-D64D-D359F868E070}"/>
              </a:ext>
            </a:extLst>
          </p:cNvPr>
          <p:cNvSpPr/>
          <p:nvPr/>
        </p:nvSpPr>
        <p:spPr>
          <a:xfrm>
            <a:off x="685800" y="1243584"/>
            <a:ext cx="914400" cy="0"/>
          </a:xfrm>
          <a:prstGeom prst="line">
            <a:avLst/>
          </a:prstGeom>
          <a:noFill/>
          <a:ln w="25400">
            <a:solidFill>
              <a:srgbClr val="D5B4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4DDF3752-E9A8-92C5-7279-BAC72A973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252" y="1329058"/>
            <a:ext cx="9412153" cy="5117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654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6127F-5B44-50A0-8677-54AA66EF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012A5DD-6AC9-4A9F-628E-1E6405C46277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2F"/>
          </a:solidFill>
          <a:ln w="12700">
            <a:solidFill>
              <a:srgbClr val="0B4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73446E6-D57A-EAB4-71EA-9F92750F5F68}"/>
              </a:ext>
            </a:extLst>
          </p:cNvPr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5B44B"/>
          </a:solidFill>
          <a:ln w="12700">
            <a:solidFill>
              <a:srgbClr val="D5B4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5D2874F-CA37-F472-5600-3C2E6D2890DE}"/>
              </a:ext>
            </a:extLst>
          </p:cNvPr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notícias • Verdão Web</a:t>
            </a:r>
            <a:endParaRPr lang="en-US" sz="8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6501D17-E3AE-3CF6-2210-2F08E1BBE81A}"/>
              </a:ext>
            </a:extLst>
          </p:cNvPr>
          <p:cNvSpPr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0FBE165-CBAD-7B7A-0483-87412B5A832C}"/>
              </a:ext>
            </a:extLst>
          </p:cNvPr>
          <p:cNvSpPr/>
          <p:nvPr/>
        </p:nvSpPr>
        <p:spPr>
          <a:xfrm>
            <a:off x="685800" y="347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3784D"/>
                </a:solidFill>
              </a:rPr>
              <a:t>ANÁLISE</a:t>
            </a:r>
            <a:endParaRPr lang="en-US" sz="8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A85A53D-73C9-80B0-D734-69E687FA8B9D}"/>
              </a:ext>
            </a:extLst>
          </p:cNvPr>
          <p:cNvSpPr/>
          <p:nvPr/>
        </p:nvSpPr>
        <p:spPr>
          <a:xfrm>
            <a:off x="685800" y="822026"/>
            <a:ext cx="7040880" cy="8431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1089"/>
              </a:spcBef>
              <a:spcAft>
                <a:spcPts val="1451"/>
              </a:spcAft>
              <a:buNone/>
            </a:pPr>
            <a:r>
              <a:rPr lang="pt-BR" sz="3200" b="0" i="0" dirty="0">
                <a:effectLst/>
                <a:latin typeface="system-ui"/>
              </a:rPr>
              <a:t>20 palavras mais relevantes pelo TF-IDF</a:t>
            </a:r>
          </a:p>
          <a:p>
            <a:pPr marL="0" indent="0">
              <a:buNone/>
            </a:pPr>
            <a:endParaRPr lang="en-US" sz="3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F5E3597-567E-A4AD-2898-29987693D612}"/>
              </a:ext>
            </a:extLst>
          </p:cNvPr>
          <p:cNvSpPr/>
          <p:nvPr/>
        </p:nvSpPr>
        <p:spPr>
          <a:xfrm>
            <a:off x="685800" y="1243584"/>
            <a:ext cx="914400" cy="0"/>
          </a:xfrm>
          <a:prstGeom prst="line">
            <a:avLst/>
          </a:prstGeom>
          <a:noFill/>
          <a:ln w="25400">
            <a:solidFill>
              <a:srgbClr val="D5B4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B2F69CC-3FAD-7AB4-0CA8-4BBB8B5F7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641" y="1476598"/>
            <a:ext cx="9465374" cy="473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2181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8"/>
          </a:solidFill>
          <a:ln w="12700">
            <a:solidFill>
              <a:srgbClr val="F7F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2F"/>
          </a:solidFill>
          <a:ln w="12700">
            <a:solidFill>
              <a:srgbClr val="0B4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5B44B"/>
          </a:solidFill>
          <a:ln w="12700">
            <a:solidFill>
              <a:srgbClr val="D5B4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notícias • Verdão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347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3784D"/>
                </a:solidFill>
              </a:rPr>
              <a:t>ANÁLISE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65836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3A2A"/>
                </a:solidFill>
              </a:rPr>
              <a:t>Visualização com t-SNE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243584"/>
            <a:ext cx="914400" cy="0"/>
          </a:xfrm>
          <a:prstGeom prst="line">
            <a:avLst/>
          </a:prstGeom>
          <a:noFill/>
          <a:ln w="25400">
            <a:solidFill>
              <a:srgbClr val="D5B4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13232" y="1554480"/>
            <a:ext cx="4407408" cy="4572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700" dirty="0">
                <a:solidFill>
                  <a:srgbClr val="113A2A"/>
                </a:solidFill>
              </a:rPr>
              <a:t>O t-SNE </a:t>
            </a:r>
            <a:r>
              <a:rPr lang="en-US" sz="1700" dirty="0" err="1">
                <a:solidFill>
                  <a:srgbClr val="113A2A"/>
                </a:solidFill>
              </a:rPr>
              <a:t>reduz</a:t>
            </a:r>
            <a:r>
              <a:rPr lang="en-US" sz="1700" dirty="0">
                <a:solidFill>
                  <a:srgbClr val="113A2A"/>
                </a:solidFill>
              </a:rPr>
              <a:t> </a:t>
            </a:r>
            <a:r>
              <a:rPr lang="en-US" sz="1700" dirty="0" err="1">
                <a:solidFill>
                  <a:srgbClr val="113A2A"/>
                </a:solidFill>
              </a:rPr>
              <a:t>os</a:t>
            </a:r>
            <a:r>
              <a:rPr lang="en-US" sz="1700" dirty="0">
                <a:solidFill>
                  <a:srgbClr val="113A2A"/>
                </a:solidFill>
              </a:rPr>
              <a:t> </a:t>
            </a:r>
            <a:r>
              <a:rPr lang="en-US" sz="1700" dirty="0" err="1">
                <a:solidFill>
                  <a:srgbClr val="113A2A"/>
                </a:solidFill>
              </a:rPr>
              <a:t>textos</a:t>
            </a:r>
            <a:r>
              <a:rPr lang="en-US" sz="1700" dirty="0">
                <a:solidFill>
                  <a:srgbClr val="113A2A"/>
                </a:solidFill>
              </a:rPr>
              <a:t> para duas </a:t>
            </a:r>
            <a:r>
              <a:rPr lang="en-US" sz="1700" dirty="0" err="1">
                <a:solidFill>
                  <a:srgbClr val="113A2A"/>
                </a:solidFill>
              </a:rPr>
              <a:t>dimensões</a:t>
            </a:r>
            <a:r>
              <a:rPr lang="en-US" sz="1700" dirty="0">
                <a:solidFill>
                  <a:srgbClr val="113A2A"/>
                </a:solidFill>
              </a:rPr>
              <a:t>.</a:t>
            </a:r>
            <a:endParaRPr lang="en-US" sz="1700" dirty="0"/>
          </a:p>
          <a:p>
            <a:r>
              <a:rPr lang="en-US" sz="1700" dirty="0">
                <a:solidFill>
                  <a:srgbClr val="113A2A"/>
                </a:solidFill>
              </a:rPr>
              <a:t>Cada </a:t>
            </a:r>
            <a:r>
              <a:rPr lang="en-US" sz="1700" dirty="0" err="1">
                <a:solidFill>
                  <a:srgbClr val="113A2A"/>
                </a:solidFill>
              </a:rPr>
              <a:t>ponto</a:t>
            </a:r>
            <a:r>
              <a:rPr lang="en-US" sz="1700" dirty="0">
                <a:solidFill>
                  <a:srgbClr val="113A2A"/>
                </a:solidFill>
              </a:rPr>
              <a:t> </a:t>
            </a:r>
            <a:r>
              <a:rPr lang="en-US" sz="1700" dirty="0" err="1">
                <a:solidFill>
                  <a:srgbClr val="113A2A"/>
                </a:solidFill>
              </a:rPr>
              <a:t>representa</a:t>
            </a:r>
            <a:r>
              <a:rPr lang="en-US" sz="1700" dirty="0">
                <a:solidFill>
                  <a:srgbClr val="113A2A"/>
                </a:solidFill>
              </a:rPr>
              <a:t> </a:t>
            </a:r>
            <a:r>
              <a:rPr lang="en-US" sz="1700" dirty="0" err="1">
                <a:solidFill>
                  <a:srgbClr val="113A2A"/>
                </a:solidFill>
              </a:rPr>
              <a:t>uma</a:t>
            </a:r>
            <a:r>
              <a:rPr lang="en-US" sz="1700" dirty="0">
                <a:solidFill>
                  <a:srgbClr val="113A2A"/>
                </a:solidFill>
              </a:rPr>
              <a:t> </a:t>
            </a:r>
            <a:r>
              <a:rPr lang="en-US" sz="1700" dirty="0" err="1">
                <a:solidFill>
                  <a:srgbClr val="113A2A"/>
                </a:solidFill>
              </a:rPr>
              <a:t>notícia</a:t>
            </a:r>
            <a:r>
              <a:rPr lang="en-US" sz="1700" dirty="0">
                <a:solidFill>
                  <a:srgbClr val="113A2A"/>
                </a:solidFill>
              </a:rPr>
              <a:t>.</a:t>
            </a:r>
            <a:endParaRPr lang="en-US" sz="1700" dirty="0"/>
          </a:p>
          <a:p>
            <a:r>
              <a:rPr lang="en-US" sz="1700" dirty="0">
                <a:solidFill>
                  <a:srgbClr val="113A2A"/>
                </a:solidFill>
              </a:rPr>
              <a:t>Pontos </a:t>
            </a:r>
            <a:r>
              <a:rPr lang="en-US" sz="1700" dirty="0" err="1">
                <a:solidFill>
                  <a:srgbClr val="113A2A"/>
                </a:solidFill>
              </a:rPr>
              <a:t>próximos</a:t>
            </a:r>
            <a:r>
              <a:rPr lang="en-US" sz="1700" dirty="0">
                <a:solidFill>
                  <a:srgbClr val="113A2A"/>
                </a:solidFill>
              </a:rPr>
              <a:t> </a:t>
            </a:r>
            <a:r>
              <a:rPr lang="en-US" sz="1700" dirty="0" err="1">
                <a:solidFill>
                  <a:srgbClr val="113A2A"/>
                </a:solidFill>
              </a:rPr>
              <a:t>indicam</a:t>
            </a:r>
            <a:r>
              <a:rPr lang="en-US" sz="1700" dirty="0">
                <a:solidFill>
                  <a:srgbClr val="113A2A"/>
                </a:solidFill>
              </a:rPr>
              <a:t> </a:t>
            </a:r>
            <a:r>
              <a:rPr lang="en-US" sz="1700" dirty="0" err="1">
                <a:solidFill>
                  <a:srgbClr val="113A2A"/>
                </a:solidFill>
              </a:rPr>
              <a:t>notícias</a:t>
            </a:r>
            <a:r>
              <a:rPr lang="en-US" sz="1700" dirty="0">
                <a:solidFill>
                  <a:srgbClr val="113A2A"/>
                </a:solidFill>
              </a:rPr>
              <a:t> com </a:t>
            </a:r>
            <a:r>
              <a:rPr lang="en-US" sz="1700" dirty="0" err="1">
                <a:solidFill>
                  <a:srgbClr val="113A2A"/>
                </a:solidFill>
              </a:rPr>
              <a:t>conteúdo</a:t>
            </a:r>
            <a:r>
              <a:rPr lang="en-US" sz="1700" dirty="0">
                <a:solidFill>
                  <a:srgbClr val="113A2A"/>
                </a:solidFill>
              </a:rPr>
              <a:t> textual </a:t>
            </a:r>
            <a:r>
              <a:rPr lang="en-US" sz="1700" dirty="0" err="1">
                <a:solidFill>
                  <a:srgbClr val="113A2A"/>
                </a:solidFill>
              </a:rPr>
              <a:t>parecido</a:t>
            </a:r>
            <a:r>
              <a:rPr lang="en-US" sz="1700" dirty="0">
                <a:solidFill>
                  <a:srgbClr val="113A2A"/>
                </a:solidFill>
              </a:rPr>
              <a:t>.</a:t>
            </a:r>
            <a:endParaRPr lang="en-US" sz="1700" dirty="0"/>
          </a:p>
          <a:p>
            <a:r>
              <a:rPr lang="en-US" sz="1700" dirty="0">
                <a:solidFill>
                  <a:srgbClr val="113A2A"/>
                </a:solidFill>
              </a:rPr>
              <a:t>A </a:t>
            </a:r>
            <a:r>
              <a:rPr lang="en-US" sz="1700" dirty="0" err="1">
                <a:solidFill>
                  <a:srgbClr val="113A2A"/>
                </a:solidFill>
              </a:rPr>
              <a:t>visualização</a:t>
            </a:r>
            <a:r>
              <a:rPr lang="en-US" sz="1700" dirty="0">
                <a:solidFill>
                  <a:srgbClr val="113A2A"/>
                </a:solidFill>
              </a:rPr>
              <a:t> </a:t>
            </a:r>
            <a:r>
              <a:rPr lang="en-US" sz="1700" dirty="0" err="1">
                <a:solidFill>
                  <a:srgbClr val="113A2A"/>
                </a:solidFill>
              </a:rPr>
              <a:t>ajuda</a:t>
            </a:r>
            <a:r>
              <a:rPr lang="en-US" sz="1700" dirty="0">
                <a:solidFill>
                  <a:srgbClr val="113A2A"/>
                </a:solidFill>
              </a:rPr>
              <a:t> a </a:t>
            </a:r>
            <a:r>
              <a:rPr lang="en-US" sz="1700" dirty="0" err="1">
                <a:solidFill>
                  <a:srgbClr val="113A2A"/>
                </a:solidFill>
              </a:rPr>
              <a:t>identificar</a:t>
            </a:r>
            <a:r>
              <a:rPr lang="en-US" sz="1700" dirty="0">
                <a:solidFill>
                  <a:srgbClr val="113A2A"/>
                </a:solidFill>
              </a:rPr>
              <a:t> </a:t>
            </a:r>
            <a:r>
              <a:rPr lang="en-US" sz="1700" dirty="0" err="1">
                <a:solidFill>
                  <a:srgbClr val="113A2A"/>
                </a:solidFill>
              </a:rPr>
              <a:t>agrupamentos</a:t>
            </a:r>
            <a:r>
              <a:rPr lang="en-US" sz="1700" dirty="0">
                <a:solidFill>
                  <a:srgbClr val="113A2A"/>
                </a:solidFill>
              </a:rPr>
              <a:t> de </a:t>
            </a:r>
            <a:r>
              <a:rPr lang="en-US" sz="1700" dirty="0" err="1">
                <a:solidFill>
                  <a:srgbClr val="113A2A"/>
                </a:solidFill>
              </a:rPr>
              <a:t>temas</a:t>
            </a:r>
            <a:r>
              <a:rPr lang="en-US" sz="1700" dirty="0">
                <a:solidFill>
                  <a:srgbClr val="113A2A"/>
                </a:solidFill>
              </a:rPr>
              <a:t>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23560" y="1417320"/>
            <a:ext cx="5897880" cy="4709160"/>
          </a:xfrm>
          <a:prstGeom prst="roundRect">
            <a:avLst>
              <a:gd name="adj" fmla="val 155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1378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852160" y="1554480"/>
            <a:ext cx="5440680" cy="207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0B4F2F"/>
                </a:solidFill>
              </a:rPr>
              <a:t>Gráfico</a:t>
            </a:r>
            <a:r>
              <a:rPr lang="en-US" sz="1600" b="1" dirty="0">
                <a:solidFill>
                  <a:srgbClr val="0B4F2F"/>
                </a:solidFill>
              </a:rPr>
              <a:t> t-SNE</a:t>
            </a:r>
          </a:p>
          <a:p>
            <a:pPr marL="0" indent="0">
              <a:buNone/>
            </a:pPr>
            <a:endParaRPr lang="en-US" sz="1600" b="1" dirty="0">
              <a:solidFill>
                <a:srgbClr val="0B4F2F"/>
              </a:solidFill>
            </a:endParaRPr>
          </a:p>
          <a:p>
            <a:pPr marL="0" indent="0">
              <a:buNone/>
            </a:pPr>
            <a:r>
              <a:rPr lang="en-US" sz="1600" b="1" dirty="0" err="1">
                <a:solidFill>
                  <a:srgbClr val="0B4F2F"/>
                </a:solidFill>
              </a:rPr>
              <a:t>Olhar</a:t>
            </a:r>
            <a:r>
              <a:rPr lang="en-US" sz="1600" b="1" dirty="0">
                <a:solidFill>
                  <a:srgbClr val="0B4F2F"/>
                </a:solidFill>
              </a:rPr>
              <a:t> no notebook</a:t>
            </a:r>
          </a:p>
          <a:p>
            <a:pPr marL="0" indent="0">
              <a:buNone/>
            </a:pPr>
            <a:endParaRPr lang="en-US" sz="1600" b="1" dirty="0">
              <a:solidFill>
                <a:srgbClr val="0B4F2F"/>
              </a:solidFill>
            </a:endParaRPr>
          </a:p>
          <a:p>
            <a:pPr marL="0" indent="0">
              <a:buNone/>
            </a:pPr>
            <a:endParaRPr lang="en-US" sz="1600" b="1" dirty="0">
              <a:solidFill>
                <a:srgbClr val="0B4F2F"/>
              </a:solidFill>
            </a:endParaRPr>
          </a:p>
          <a:p>
            <a:pPr marL="0" indent="0">
              <a:buNone/>
            </a:pPr>
            <a:endParaRPr lang="en-US" sz="1600" b="1" dirty="0">
              <a:solidFill>
                <a:srgbClr val="0B4F2F"/>
              </a:solidFill>
            </a:endParaRPr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sports_stadium_interior_scene._o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488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Extra: </a:t>
            </a:r>
            <a:r>
              <a:rPr lang="en-US" sz="4200" b="1" dirty="0" err="1">
                <a:solidFill>
                  <a:srgbClr val="FFFFFF"/>
                </a:solidFill>
              </a:rPr>
              <a:t>Modelagem</a:t>
            </a:r>
            <a:r>
              <a:rPr lang="en-US" sz="4200" b="1" dirty="0">
                <a:solidFill>
                  <a:srgbClr val="FFFFFF"/>
                </a:solidFill>
              </a:rPr>
              <a:t> </a:t>
            </a:r>
            <a:r>
              <a:rPr lang="en-US" sz="4200" b="1" dirty="0" err="1">
                <a:solidFill>
                  <a:srgbClr val="FFFFFF"/>
                </a:solidFill>
              </a:rPr>
              <a:t>predição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77240" y="3063240"/>
            <a:ext cx="1417320" cy="0"/>
          </a:xfrm>
          <a:prstGeom prst="line">
            <a:avLst/>
          </a:prstGeom>
          <a:noFill/>
          <a:ln w="38100">
            <a:solidFill>
              <a:srgbClr val="D5B4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77240" y="33375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8F4EC"/>
                </a:solidFill>
              </a:rPr>
              <a:t> Regressão Logística e Árvore de Classificação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2F"/>
          </a:solidFill>
          <a:ln w="12700">
            <a:solidFill>
              <a:srgbClr val="0B4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5B44B"/>
          </a:solidFill>
          <a:ln w="12700">
            <a:solidFill>
              <a:srgbClr val="D5B4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notícias • Verdão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347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3784D"/>
                </a:solidFill>
              </a:rPr>
              <a:t>ANÁLISE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65836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3A2A"/>
                </a:solidFill>
              </a:rPr>
              <a:t>Modelagem preditiva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243584"/>
            <a:ext cx="914400" cy="0"/>
          </a:xfrm>
          <a:prstGeom prst="line">
            <a:avLst/>
          </a:prstGeom>
          <a:noFill/>
          <a:ln w="25400">
            <a:solidFill>
              <a:srgbClr val="D5B4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85800" y="1508760"/>
            <a:ext cx="1420368" cy="822960"/>
          </a:xfrm>
          <a:prstGeom prst="roundRect">
            <a:avLst>
              <a:gd name="adj" fmla="val 8889"/>
            </a:avLst>
          </a:prstGeom>
          <a:solidFill>
            <a:srgbClr val="E5EEE6"/>
          </a:solidFill>
          <a:ln w="12700">
            <a:solidFill>
              <a:srgbClr val="E5EE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95528" y="1636776"/>
            <a:ext cx="120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4F2F"/>
                </a:solidFill>
              </a:rPr>
              <a:t>70%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95528" y="1993392"/>
            <a:ext cx="120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B625D"/>
                </a:solidFill>
              </a:rPr>
              <a:t>treino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15896" y="1508760"/>
            <a:ext cx="1420368" cy="822960"/>
          </a:xfrm>
          <a:prstGeom prst="roundRect">
            <a:avLst>
              <a:gd name="adj" fmla="val 8889"/>
            </a:avLst>
          </a:prstGeom>
          <a:solidFill>
            <a:srgbClr val="E5EEE6"/>
          </a:solidFill>
          <a:ln w="12700">
            <a:solidFill>
              <a:srgbClr val="E5EE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325624" y="1636776"/>
            <a:ext cx="120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4F2F"/>
                </a:solidFill>
              </a:rPr>
              <a:t>30%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325624" y="1993392"/>
            <a:ext cx="120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B625D"/>
                </a:solidFill>
              </a:rPr>
              <a:t>teste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45992" y="1508760"/>
            <a:ext cx="1420368" cy="822960"/>
          </a:xfrm>
          <a:prstGeom prst="roundRect">
            <a:avLst>
              <a:gd name="adj" fmla="val 8889"/>
            </a:avLst>
          </a:prstGeom>
          <a:solidFill>
            <a:srgbClr val="E5EEE6"/>
          </a:solidFill>
          <a:ln w="12700">
            <a:solidFill>
              <a:srgbClr val="E5EE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855720" y="1636776"/>
            <a:ext cx="120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4F2F"/>
                </a:solidFill>
              </a:rPr>
              <a:t>600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55720" y="1993392"/>
            <a:ext cx="120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B625D"/>
                </a:solidFill>
              </a:rPr>
              <a:t>notícias no teste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13232" y="2780957"/>
            <a:ext cx="9482820" cy="2128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700" dirty="0">
                <a:solidFill>
                  <a:srgbClr val="113A2A"/>
                </a:solidFill>
              </a:rPr>
              <a:t>Objetivo: prever se uma notícia terá alta audiência usando o </a:t>
            </a:r>
            <a:r>
              <a:rPr lang="en-US" sz="1700" dirty="0" err="1">
                <a:solidFill>
                  <a:srgbClr val="113A2A"/>
                </a:solidFill>
              </a:rPr>
              <a:t>texto</a:t>
            </a:r>
            <a:r>
              <a:rPr lang="en-US" sz="1700" dirty="0">
                <a:solidFill>
                  <a:srgbClr val="113A2A"/>
                </a:solidFill>
              </a:rPr>
              <a:t>.</a:t>
            </a:r>
          </a:p>
          <a:p>
            <a:endParaRPr lang="en-US" sz="1700" dirty="0"/>
          </a:p>
          <a:p>
            <a:r>
              <a:rPr lang="en-US" sz="1700" dirty="0">
                <a:solidFill>
                  <a:srgbClr val="113A2A"/>
                </a:solidFill>
              </a:rPr>
              <a:t>Variáveis explicativas: matriz TF-IDF.</a:t>
            </a:r>
            <a:endParaRPr lang="en-US" sz="1700" dirty="0"/>
          </a:p>
          <a:p>
            <a:r>
              <a:rPr lang="en-US" sz="1700" dirty="0">
                <a:solidFill>
                  <a:srgbClr val="113A2A"/>
                </a:solidFill>
              </a:rPr>
              <a:t>Variável resposta: </a:t>
            </a:r>
            <a:r>
              <a:rPr lang="en-US" sz="1700" dirty="0" err="1">
                <a:solidFill>
                  <a:srgbClr val="113A2A"/>
                </a:solidFill>
              </a:rPr>
              <a:t>alta_audiencia</a:t>
            </a:r>
            <a:r>
              <a:rPr lang="en-US" sz="1700" dirty="0">
                <a:solidFill>
                  <a:srgbClr val="113A2A"/>
                </a:solidFill>
              </a:rPr>
              <a:t>.</a:t>
            </a:r>
          </a:p>
          <a:p>
            <a:endParaRPr lang="en-US" sz="1700" dirty="0"/>
          </a:p>
          <a:p>
            <a:r>
              <a:rPr lang="en-US" sz="1700" dirty="0">
                <a:solidFill>
                  <a:srgbClr val="113A2A"/>
                </a:solidFill>
              </a:rPr>
              <a:t>Modelos testados: Regressão Logística e Árvore de Classificação.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2F"/>
          </a:solidFill>
          <a:ln w="12700">
            <a:solidFill>
              <a:srgbClr val="0B4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5B44B"/>
          </a:solidFill>
          <a:ln w="12700">
            <a:solidFill>
              <a:srgbClr val="D5B4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notícias • Verdão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347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3784D"/>
                </a:solidFill>
              </a:rPr>
              <a:t>ANÁLISE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65836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3A2A"/>
                </a:solidFill>
              </a:rPr>
              <a:t>Regressão Logística — métricas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243584"/>
            <a:ext cx="914400" cy="0"/>
          </a:xfrm>
          <a:prstGeom prst="line">
            <a:avLst/>
          </a:prstGeom>
          <a:noFill/>
          <a:ln w="25400">
            <a:solidFill>
              <a:srgbClr val="D5B4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95528" y="1636776"/>
            <a:ext cx="120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683961" y="1449324"/>
            <a:ext cx="5897880" cy="4709160"/>
          </a:xfrm>
          <a:prstGeom prst="roundRect">
            <a:avLst>
              <a:gd name="adj" fmla="val 155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1378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757889" y="1547622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4F2F"/>
                </a:solidFill>
              </a:rPr>
              <a:t>Tabela de métricas da Regressão Logística</a:t>
            </a:r>
            <a:endParaRPr lang="en-US" sz="1600" dirty="0"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50E16375-A602-F2C8-A409-BE231B60E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075" y="2652604"/>
            <a:ext cx="5139873" cy="22222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2F"/>
          </a:solidFill>
          <a:ln w="12700">
            <a:solidFill>
              <a:srgbClr val="0B4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5B44B"/>
          </a:solidFill>
          <a:ln w="12700">
            <a:solidFill>
              <a:srgbClr val="D5B4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notícias • Verdão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347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3784D"/>
                </a:solidFill>
              </a:rPr>
              <a:t>ANÁLISE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65836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3A2A"/>
                </a:solidFill>
              </a:rPr>
              <a:t>Regressão Logística — matriz de confusão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243584"/>
            <a:ext cx="914400" cy="0"/>
          </a:xfrm>
          <a:prstGeom prst="line">
            <a:avLst/>
          </a:prstGeom>
          <a:noFill/>
          <a:ln w="25400">
            <a:solidFill>
              <a:srgbClr val="D5B4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13232" y="1554480"/>
            <a:ext cx="4407408" cy="4572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421134" y="1449324"/>
            <a:ext cx="5897880" cy="3309489"/>
          </a:xfrm>
          <a:prstGeom prst="roundRect">
            <a:avLst>
              <a:gd name="adj" fmla="val 155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1378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351022" y="1618488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4F2F"/>
                </a:solidFill>
              </a:rPr>
              <a:t>Matriz de confusão — Regressão Logística</a:t>
            </a:r>
            <a:endParaRPr lang="en-US" sz="16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11B20FA-00CD-0995-7D50-9C00B0739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142" y="2409256"/>
            <a:ext cx="5021863" cy="165296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2F"/>
          </a:solidFill>
          <a:ln w="12700">
            <a:solidFill>
              <a:srgbClr val="0B4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notícias • Verdão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347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3784D"/>
                </a:solidFill>
              </a:rPr>
              <a:t>ANÁLISE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65836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3A2A"/>
                </a:solidFill>
              </a:rPr>
              <a:t>Árvore de Classificação — métricas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243584"/>
            <a:ext cx="914400" cy="0"/>
          </a:xfrm>
          <a:prstGeom prst="line">
            <a:avLst/>
          </a:prstGeom>
          <a:noFill/>
          <a:ln w="25400">
            <a:solidFill>
              <a:srgbClr val="D5B4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3293315" y="1449324"/>
            <a:ext cx="5897880" cy="4709160"/>
          </a:xfrm>
          <a:prstGeom prst="roundRect">
            <a:avLst>
              <a:gd name="adj" fmla="val 155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1378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006340" y="1618488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4F2F"/>
                </a:solidFill>
              </a:rPr>
              <a:t>Tabela de métricas da Árvore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52160" y="2039112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603EEF9D-6EC4-4835-C1B1-BAFCC3310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000" y="2642879"/>
            <a:ext cx="5514510" cy="224916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8"/>
          </a:solidFill>
          <a:ln w="12700">
            <a:solidFill>
              <a:srgbClr val="F7F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2F"/>
          </a:solidFill>
          <a:ln w="12700">
            <a:solidFill>
              <a:srgbClr val="0B4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5B44B"/>
          </a:solidFill>
          <a:ln w="12700">
            <a:solidFill>
              <a:srgbClr val="D5B4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notícias • Verdão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347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3784D"/>
                </a:solidFill>
              </a:rPr>
              <a:t>ANÁLISE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65836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3A2A"/>
                </a:solidFill>
              </a:rPr>
              <a:t>Árvore — matriz de confusão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243584"/>
            <a:ext cx="914400" cy="0"/>
          </a:xfrm>
          <a:prstGeom prst="line">
            <a:avLst/>
          </a:prstGeom>
          <a:noFill/>
          <a:ln w="25400">
            <a:solidFill>
              <a:srgbClr val="D5B4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2762373" y="1417320"/>
            <a:ext cx="5897880" cy="4709160"/>
          </a:xfrm>
          <a:prstGeom prst="roundRect">
            <a:avLst>
              <a:gd name="adj" fmla="val 155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1378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679231" y="1618488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4F2F"/>
                </a:solidFill>
              </a:rPr>
              <a:t>Matriz de confusão — Árvore de Classificação</a:t>
            </a:r>
            <a:endParaRPr lang="en-US" sz="16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FA818193-B833-52B3-21D9-E6E779DF1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557" y="2691786"/>
            <a:ext cx="5440679" cy="161792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8"/>
          </a:solidFill>
          <a:ln w="12700">
            <a:solidFill>
              <a:srgbClr val="F7F3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2F"/>
          </a:solidFill>
          <a:ln w="12700">
            <a:solidFill>
              <a:srgbClr val="0B4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5B44B"/>
          </a:solidFill>
          <a:ln w="12700">
            <a:solidFill>
              <a:srgbClr val="D5B4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notícias • Verdão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347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3784D"/>
                </a:solidFill>
              </a:rPr>
              <a:t>ANÁLISE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65836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3A2A"/>
                </a:solidFill>
              </a:rPr>
              <a:t>Comparação dos modelos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243584"/>
            <a:ext cx="914400" cy="0"/>
          </a:xfrm>
          <a:prstGeom prst="line">
            <a:avLst/>
          </a:prstGeom>
          <a:noFill/>
          <a:ln w="25400">
            <a:solidFill>
              <a:srgbClr val="D5B4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1330796" y="1449324"/>
            <a:ext cx="10144924" cy="3098486"/>
          </a:xfrm>
          <a:prstGeom prst="roundRect">
            <a:avLst>
              <a:gd name="adj" fmla="val 155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1378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68057" y="1596144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4F2F"/>
                </a:solidFill>
              </a:rPr>
              <a:t>Tabela comparativa dos modelos</a:t>
            </a:r>
            <a:endParaRPr lang="en-US" sz="16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95CBBB1E-1502-7F09-6CCB-51271AF23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386" y="2579830"/>
            <a:ext cx="8119999" cy="14712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835</Words>
  <Application>Microsoft Office PowerPoint</Application>
  <PresentationFormat>Widescreen</PresentationFormat>
  <Paragraphs>203</Paragraphs>
  <Slides>29</Slides>
  <Notes>29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3" baseType="lpstr">
      <vt:lpstr>Aptos</vt:lpstr>
      <vt:lpstr>Arial</vt:lpstr>
      <vt:lpstr>system-ui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de Audiência - Notícias do Palmeiras</dc:title>
  <dc:subject>Template apresentação análise de notícias Palmeiras</dc:subject>
  <dc:creator>OpenAI</dc:creator>
  <cp:lastModifiedBy>Giovanni Roberti</cp:lastModifiedBy>
  <cp:revision>2</cp:revision>
  <dcterms:created xsi:type="dcterms:W3CDTF">2026-05-26T11:17:10Z</dcterms:created>
  <dcterms:modified xsi:type="dcterms:W3CDTF">2026-05-26T12:04:52Z</dcterms:modified>
</cp:coreProperties>
</file>